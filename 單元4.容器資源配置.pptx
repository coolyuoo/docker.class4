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9144000"/>
  <p:embeddedFontLs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8.xml"/><Relationship Id="rId34" Type="http://schemas.openxmlformats.org/officeDocument/2006/relationships/font" Target="fonts/RobotoMono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8" name="Google Shape;28;p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" name="Google Shape;30;p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31" name="Google Shape;31;p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2" name="Google Shape;32;p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4" name="Google Shape;34;p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35" name="Google Shape;35;p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36" name="Google Shape;36;p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2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5" name="Google Shape;65;p6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7" name="Google Shape;67;p6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4" name="Google Shape;84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輔助字幕">
  <p:cSld name="標題與輔助字幕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輔助字幕)">
  <p:cSld name="引述 (含輔助字幕)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2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80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8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名片">
  <p:cSld name="引述名片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80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80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是非題">
  <p:cSld name="是非題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7" name="Google Shape;17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8" name="Google Shape;18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9" name="Google Shape;19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ctrTitle"/>
          </p:nvPr>
        </p:nvSpPr>
        <p:spPr>
          <a:xfrm>
            <a:off x="2023040" y="1393793"/>
            <a:ext cx="6734989" cy="11300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n-US"/>
              <a:t>單元4.容器資源配置</a:t>
            </a:r>
            <a:endParaRPr/>
          </a:p>
        </p:txBody>
      </p:sp>
      <p:sp>
        <p:nvSpPr>
          <p:cNvPr id="148" name="Google Shape;148;p18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授課講師:Kevin</a:t>
            </a:r>
            <a:endParaRPr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ctrTitle"/>
          </p:nvPr>
        </p:nvSpPr>
        <p:spPr>
          <a:xfrm>
            <a:off x="1338470" y="278296"/>
            <a:ext cx="1919046" cy="11088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n-US"/>
              <a:t>目錄:</a:t>
            </a:r>
            <a:endParaRPr/>
          </a:p>
        </p:txBody>
      </p:sp>
      <p:sp>
        <p:nvSpPr>
          <p:cNvPr id="154" name="Google Shape;154;p19"/>
          <p:cNvSpPr txBox="1"/>
          <p:nvPr>
            <p:ph idx="1" type="subTitle"/>
          </p:nvPr>
        </p:nvSpPr>
        <p:spPr>
          <a:xfrm>
            <a:off x="1468550" y="1471070"/>
            <a:ext cx="5067900" cy="4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813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.dockerignore建立</a:t>
            </a:r>
            <a:endParaRPr sz="2000">
              <a:solidFill>
                <a:schemeClr val="dk1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為什麼要限制資源？</a:t>
            </a:r>
            <a:endParaRPr sz="2000">
              <a:solidFill>
                <a:schemeClr val="dk1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容器記憶體設定–-memory參數解析</a:t>
            </a:r>
            <a:endParaRPr sz="2000">
              <a:solidFill>
                <a:schemeClr val="dk1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讓容器的記憶體爆炸</a:t>
            </a:r>
            <a:endParaRPr sz="2000">
              <a:solidFill>
                <a:schemeClr val="dk1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docker stats </a:t>
            </a:r>
            <a:endParaRPr sz="2000">
              <a:solidFill>
                <a:schemeClr val="dk1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docker update</a:t>
            </a:r>
            <a:endParaRPr sz="2000">
              <a:solidFill>
                <a:schemeClr val="dk1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docker run –restart=always</a:t>
            </a:r>
            <a:endParaRPr sz="2000">
              <a:solidFill>
                <a:schemeClr val="dk1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docker logs</a:t>
            </a:r>
            <a:endParaRPr sz="2000">
              <a:solidFill>
                <a:schemeClr val="dk1"/>
              </a:solidFill>
            </a:endParaRPr>
          </a:p>
          <a:p>
            <a:pPr indent="-1841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Font typeface="Arial"/>
              <a:buNone/>
            </a:pPr>
            <a:r>
              <a:t/>
            </a:r>
            <a:endParaRPr sz="2000"/>
          </a:p>
          <a:p>
            <a:pPr indent="-14351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51429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課程導入</a:t>
            </a:r>
            <a:endParaRPr/>
          </a:p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減少image的容量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學會限制容器的 CPU 與記憶體使用量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透過實際操作，學員將能掌握如何在 Docker 中使用資源限制，進而提高應用的穩定性與效能。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瞭解資源限制對效能的影響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學員將能分析在限制資源後容器的效能變化，瞭解在不同的配置下應用的運作情形。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實際測試容器在不同限制下的行為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透過實作，學員將體會不同資源限制對容器行為的影響，並學會如何調整配置以達到最佳效能。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.dockerignore 的基本概念</a:t>
            </a:r>
            <a:endParaRPr/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677545" y="1584960"/>
            <a:ext cx="8596630" cy="4662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定義與功能</a:t>
            </a:r>
            <a:r>
              <a:rPr lang="en-US"/>
              <a:t>：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.dockerignore 文件的主要作用是告訴 Docker 在執行 docker build 時，哪些本地檔案或資料夾應該被忽略。這一行為與 .gitignore 文件的目的相似，都是為了減少不必要的檔案納入版本控制或建置過程中。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優化建置過程</a:t>
            </a:r>
            <a:r>
              <a:rPr lang="en-US"/>
              <a:t>：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當構建上下文（build context）越小時，Docker 在傳輸檔案的過程中，所需的時間和資源自然會減少，這會直接影響到鏡像的建構速度和最終的鏡像大小。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避免敏感資料洩露</a:t>
            </a:r>
            <a:r>
              <a:rPr lang="en-US"/>
              <a:t>：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使用 .dockerignore 文件可以有效防止敏感資料（如密鑰、密碼、配置檔案等）誤被納入建構的映像中，從而提高安全性。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b="1" lang="en-US" sz="1600"/>
              <a:t>使用注意事項</a:t>
            </a:r>
            <a:r>
              <a:rPr lang="en-US" sz="1600"/>
              <a:t>：</a:t>
            </a:r>
            <a:endParaRPr sz="16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sz="1600"/>
              <a:t>使用 .dockerignore 時需謹慎，確保不會錯過任何必要的檔案，特別是在大型項目中，可能有許多檔案需要被排除。</a:t>
            </a:r>
            <a:endParaRPr sz="1600"/>
          </a:p>
          <a:p>
            <a:pPr indent="-20447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.dockerignore 的基本概念 </a:t>
            </a:r>
            <a:br>
              <a:rPr lang="en-US"/>
            </a:br>
            <a:r>
              <a:rPr lang="en-US"/>
              <a:t>實際操作示範</a:t>
            </a:r>
            <a:endParaRPr/>
          </a:p>
        </p:txBody>
      </p:sp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677545" y="1852295"/>
            <a:ext cx="918591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b="1" lang="en-US" sz="1800"/>
              <a:t>創建 </a:t>
            </a:r>
            <a:r>
              <a:rPr lang="en-US" sz="1800"/>
              <a:t>.dockerignore</a:t>
            </a:r>
            <a:r>
              <a:rPr b="1" lang="en-US" sz="1800"/>
              <a:t> 文件</a:t>
            </a:r>
            <a:r>
              <a:rPr lang="en-US" sz="1800"/>
              <a:t>：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1800"/>
              <a:t>在專案的根目錄下(學員上次建立的Dockerfile)，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1800"/>
              <a:t>或是下載https://github.com/coolyuoo/ClassHello 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1800"/>
              <a:t>建立一個名為 .dockerignore 的新文件，並根據實際需求添加要忽略的檔案和資料夾。</a:t>
            </a:r>
            <a:endParaRPr sz="1800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800"/>
              <a:t>建構鏡像</a:t>
            </a:r>
            <a:r>
              <a:rPr lang="en-US" sz="1800"/>
              <a:t>：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1800"/>
              <a:t>完成 .dockerignore 文件的編輯後，可以使用 docker build --no-cache -t 《your_image_name》. 命令來構建新的 Docker 鏡像，您將會發現建構速度有明顯的提升。</a:t>
            </a:r>
            <a:endParaRPr sz="1800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800"/>
              <a:t>效果驗證</a:t>
            </a:r>
            <a:r>
              <a:rPr lang="en-US" sz="1800"/>
              <a:t>：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1800"/>
              <a:t>在實際建構後，可以檢查生成的鏡像大小，並與未使用 .dockerignore 前的鏡像進行比較，以評估優化效果。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1800"/>
              <a:t>「.dockerignore 就是減肥清單」—把不需要進 image 的東西瘦下來。</a:t>
            </a:r>
            <a:endParaRPr sz="1800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 sz="1800"/>
              <a:t>範例內容</a:t>
            </a:r>
            <a:r>
              <a:rPr lang="en-US" sz="1800"/>
              <a:t>：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1800"/>
              <a:t>任何列出的檔案或資料夾在建構過程中都不會被包含，這樣可幫助減少最終鏡像的大小。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1800"/>
              <a:t>繼承上一次的Dockerfile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 sz="1800"/>
              <a:t>例如，以下是 .dockerignore 文件的一個示範內容：</a:t>
            </a:r>
            <a:endParaRPr sz="1800"/>
          </a:p>
          <a:p>
            <a:pPr indent="-212725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1600"/>
          </a:p>
          <a:p>
            <a:pPr indent="-212725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1600"/>
          </a:p>
        </p:txBody>
      </p:sp>
      <p:pic>
        <p:nvPicPr>
          <p:cNvPr id="173" name="Google Shape;1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3359" y="5646869"/>
            <a:ext cx="3815337" cy="1127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.dockerignore 的基本概念 </a:t>
            </a:r>
            <a:br>
              <a:rPr lang="en-US"/>
            </a:br>
            <a:r>
              <a:rPr lang="en-US"/>
              <a:t>文件格式與範例</a:t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677545" y="2049145"/>
            <a:ext cx="10683240" cy="456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__pycache__/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*.pyc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venv/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ENV/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.env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.env.*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098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383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0" name="Google Shape;1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4780" y="1930400"/>
            <a:ext cx="5384945" cy="38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.dockerignore 的基本概念 </a:t>
            </a:r>
            <a:br>
              <a:rPr lang="en-US"/>
            </a:br>
            <a:r>
              <a:rPr lang="en-US"/>
              <a:t>文件格式與範例(2)</a:t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677545" y="2049145"/>
            <a:ext cx="10683240" cy="456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基礎 Python／環境與機密</a:t>
            </a:r>
            <a:endParaRPr b="0" i="0" sz="21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1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__pycache__/</a:t>
            </a:r>
            <a:endParaRPr b="1" i="0" sz="21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會自動產生的編譯快取資料夾，對建置映像沒用，只會佔空間。</a:t>
            </a:r>
            <a:endParaRPr b="0" i="0" sz="21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1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*.pyc</a:t>
            </a:r>
            <a:endParaRPr b="1" i="0" sz="21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編譯後的單一檔案快取（.py 的機器碼快取），同樣不需要打包進 image。</a:t>
            </a:r>
            <a:endParaRPr b="0" i="0" sz="21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1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venv/、ENV/</a:t>
            </a:r>
            <a:endParaRPr b="1" i="0" sz="21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本機虛擬環境資料夾（pip 安裝在你電腦上的那套），image 應該在 build 時由 pip install 重新安裝乾淨的一份，不要把本機的 venv 打包進去。</a:t>
            </a:r>
            <a:endParaRPr b="0" i="0" sz="21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1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.env、.env.*</a:t>
            </a:r>
            <a:endParaRPr b="1" i="0" sz="21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環境變數檔（例如 .env.development、.env.production），常含密碼／金鑰。務必忽略，避免被打包進 image。</a:t>
            </a:r>
            <a:endParaRPr b="0" i="0" sz="21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.dockerignore 的基本概念 </a:t>
            </a:r>
            <a:br>
              <a:rPr lang="en-US"/>
            </a:br>
            <a:r>
              <a:rPr lang="en-US"/>
              <a:t>文件格式與範例(3)</a:t>
            </a:r>
            <a:endParaRPr/>
          </a:p>
        </p:txBody>
      </p:sp>
      <p:sp>
        <p:nvSpPr>
          <p:cNvPr id="192" name="Google Shape;192;p25"/>
          <p:cNvSpPr/>
          <p:nvPr/>
        </p:nvSpPr>
        <p:spPr>
          <a:xfrm>
            <a:off x="677545" y="2049145"/>
            <a:ext cx="10683240" cy="456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「在 .dockerignore 裡，* 就是萬用牌，代表任何字；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** 是加強版，代表任何層資料夾；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 表示這是個資料夾；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# 是註解；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! 是反轉，不要忽略它；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? 是單一字元。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所以 .env.* 就是『任何以 .env. 開頭的檔案都忽略』。」</a:t>
            </a:r>
            <a:endParaRPr b="0" i="0" sz="24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.dockerignore 的基本概念 </a:t>
            </a:r>
            <a:br>
              <a:rPr lang="en-US"/>
            </a:br>
            <a:r>
              <a:rPr lang="en-US"/>
              <a:t>總結與反思</a:t>
            </a:r>
            <a:endParaRPr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重要性重申</a:t>
            </a:r>
            <a:r>
              <a:rPr lang="en-US"/>
              <a:t>：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dockerignore 文件在 Docker 生態系統中扮演著重要的角色，它不僅能提高建構效率，還能確保安全性。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持續學習</a:t>
            </a:r>
            <a:r>
              <a:rPr lang="en-US"/>
              <a:t>：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對於開發者而言，熟悉 .dockerignore 的使用及其最佳實踐是非常重要的，這將有助於在實際開發環境中應用 Docker 時，減少不必要的麻煩。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最佳實踐的探索</a:t>
            </a:r>
            <a:r>
              <a:rPr lang="en-US"/>
              <a:t>：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繼續探索其他與 Docker 相關的最佳實踐，並不斷優化工作流程，以便在日常開發中提高生產力和安全性。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休息一下</a:t>
            </a:r>
            <a:br>
              <a:rPr lang="en-US"/>
            </a:br>
            <a:endParaRPr/>
          </a:p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學員提問</a:t>
            </a:r>
            <a:endParaRPr/>
          </a:p>
          <a:p>
            <a:pPr indent="-25146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為什麼要限制資源？</a:t>
            </a:r>
            <a:endParaRPr/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避免單一容器耗盡系統資源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在多容器環境中，若有某一容器資源使用過高，可能影響整個系統的穩定性，因此限制資源是必要的防範措施。</a:t>
            </a:r>
            <a:endParaRPr sz="16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提高多容器環境的穩定性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透過資源限制，可以確保每個容器都有充足的資源運行，避免因資源競爭導致的服務中斷。</a:t>
            </a:r>
            <a:endParaRPr sz="16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在測試與生產環境控制效能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限制資源不僅適用於生產環境，測試環境中也需要思考資源的配置，以模擬實際運行情況，發現潛在的問題。</a:t>
            </a:r>
            <a:endParaRPr sz="16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容器記憶體設定–-memory參數解析(1)</a:t>
            </a:r>
            <a:endParaRPr/>
          </a:p>
        </p:txBody>
      </p:sp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748356" y="1459254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memory是什麼？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簡單來講，--memory 參數用來限制容器使用的最大記憶體大小，確保容器不會超過這個限制。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用生活例子比喻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想像一個人在使用電腦，若設定了 256MB 的記憶體限制，超出後就會強制關閉過多的應用程式，這就是 Linux 系統中的 OOM（Out Of Memory）機制。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實際例子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執行 docker run -d --name test --memory=256m nginx，這個命令將啟動一個只能使用 256MB 記憶體的 Nginx 容器，若超過限制，容器將被系統強制停止。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容器記憶體設定–memory參數解析(2)</a:t>
            </a:r>
            <a:endParaRPr/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1264741" y="3811838"/>
            <a:ext cx="7214914" cy="1559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chemeClr val="dk1"/>
                </a:solidFill>
              </a:rPr>
              <a:t>--memory </a:t>
            </a:r>
            <a:r>
              <a:rPr lang="en-US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是用來保護主機的安全閥，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chemeClr val="dk1"/>
                </a:solidFill>
              </a:rPr>
              <a:t>	</a:t>
            </a:r>
            <a:r>
              <a:rPr lang="en-US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限制容器最多可以用多少記憶體，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chemeClr val="dk1"/>
                </a:solidFill>
              </a:rPr>
              <a:t>	</a:t>
            </a:r>
            <a:r>
              <a:rPr lang="en-US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超過就會被系統強制結束（</a:t>
            </a:r>
            <a:r>
              <a:rPr lang="en-US">
                <a:solidFill>
                  <a:schemeClr val="dk1"/>
                </a:solidFill>
              </a:rPr>
              <a:t>OOM</a:t>
            </a:r>
            <a:r>
              <a:rPr lang="en-US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）。</a:t>
            </a:r>
            <a:endParaRPr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1264741" y="1735943"/>
            <a:ext cx="7214914" cy="1559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容器預設可以用主機的全部記憶體。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換句話說，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一個容器就可能吃爆整台主機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所以在實際上線環境，一定要記得加上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--memory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來保護主機</a:t>
            </a:r>
            <a: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用生活例子比喻 </a:t>
            </a:r>
            <a:endParaRPr b="0" i="0" sz="18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146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讓容器的記憶體爆炸(1)</a:t>
            </a:r>
            <a:endParaRPr/>
          </a:p>
        </p:txBody>
      </p:sp>
      <p:sp>
        <p:nvSpPr>
          <p:cNvPr id="229" name="Google Shape;229;p3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容器內部程式強制結束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當容器記憶體使用量超過設定的上限時，Linux 的 OOM Killer 將會介入，強制終止該容器內的主要程式。</a:t>
            </a:r>
            <a:endParaRPr sz="16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服務中斷的影響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比如，Flask 或 Nginx 等服務將無法運行，應用程式可能會突然消失，且 Docker 日誌中通常不會有明顯的錯誤訊息。</a:t>
            </a:r>
            <a:endParaRPr sz="16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主機的安全性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雖然容器被強制終止，但這樣的設計能有效保護主機不被單一容器耗盡資源，避免整體系統崩潰。</a:t>
            </a:r>
            <a:endParaRPr sz="16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讓容器的記憶體爆炸(2) </a:t>
            </a:r>
            <a:br>
              <a:rPr lang="en-US"/>
            </a:br>
            <a:r>
              <a:rPr lang="en-US" sz="2800"/>
              <a:t>怎麼知道真的 OOM？</a:t>
            </a:r>
            <a:endParaRPr sz="2800"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使用 docker ps -a 檢查狀態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可以查看容器的退出代碼，如果是 137，則表示容器因 OOM 被強制終止。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生活化比喻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就好比一個人在使用筆電時開啟過多程式，結果系統選擇強制關閉最佔資源的程式，以保護整體系統不崩潰。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讓容器的記憶體爆炸(3) </a:t>
            </a:r>
            <a:br>
              <a:rPr lang="en-US"/>
            </a:br>
            <a:r>
              <a:rPr lang="en-US" sz="2800"/>
              <a:t>開始模擬容器爆炸</a:t>
            </a:r>
            <a:endParaRPr sz="2800"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步驟1：啟動容器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下載</a:t>
            </a:r>
            <a:r>
              <a:rPr b="1" lang="en-US"/>
              <a:t>https://hub.docker.com/r/vsn80395/memoryconfig 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docker run -d -p 80</a:t>
            </a:r>
            <a:r>
              <a:rPr lang="en-US"/>
              <a:t>59</a:t>
            </a:r>
            <a:r>
              <a:rPr lang="en-US"/>
              <a:t>:8000 --memory=200m</a:t>
            </a:r>
            <a:r>
              <a:rPr lang="en-US"/>
              <a:t> --memory-swap=200m </a:t>
            </a:r>
            <a:r>
              <a:rPr lang="en-US"/>
              <a:t> --name yourcontainername vsn80395/memoryconfig:1.0.0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故意設定較小的記憶體限制，以模擬記憶體超載情況。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步驟2：設定網頁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學生需在啟動後的網頁中輸入記憶體使用量，進一步觀察容器行為。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使用範例</a:t>
            </a:r>
            <a:br>
              <a:rPr lang="en-US"/>
            </a:br>
            <a:r>
              <a:rPr lang="en-US"/>
              <a:t>/mem/add?mb=150 加記憶體150mb</a:t>
            </a:r>
            <a:br>
              <a:rPr lang="en-US"/>
            </a:br>
            <a:r>
              <a:rPr lang="en-US"/>
              <a:t>/mem/free?mb=200 釋放記憶體200mb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lang="en-US"/>
              <a:t>     /mem/clear記憶體歸0</a:t>
            </a:r>
            <a:endParaRPr/>
          </a:p>
          <a:p>
            <a:pPr indent="-20447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讓容器的記憶體爆炸(4) </a:t>
            </a:r>
            <a:br>
              <a:rPr lang="en-US"/>
            </a:br>
            <a:r>
              <a:rPr lang="en-US" sz="2800"/>
              <a:t>開始模擬容器爆炸</a:t>
            </a:r>
            <a:endParaRPr sz="2800"/>
          </a:p>
        </p:txBody>
      </p:sp>
      <p:pic>
        <p:nvPicPr>
          <p:cNvPr id="247" name="Google Shape;247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325" y="1727200"/>
            <a:ext cx="4754245" cy="21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3905" y="1931670"/>
            <a:ext cx="5250180" cy="128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2705" y="4511675"/>
            <a:ext cx="6256020" cy="1210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讓容器的記憶體爆炸(5) </a:t>
            </a:r>
            <a:br>
              <a:rPr lang="en-US"/>
            </a:br>
            <a:r>
              <a:rPr lang="en-US" sz="2800"/>
              <a:t>開始模擬容器爆炸</a:t>
            </a:r>
            <a:endParaRPr sz="2800"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步驟3：容器停止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隨著記憶體超過設定限制200m，容器將自動停止，學生可觀察到這一過程。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步驟4 : 輸入 docker ps –a 查詢開容器狀態 確認容器停止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步驟5: 重啟容器(可多玩幾次)</a:t>
            </a:r>
            <a:endParaRPr/>
          </a:p>
          <a:p>
            <a:pPr indent="-20447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docker stats</a:t>
            </a:r>
            <a:endParaRPr/>
          </a:p>
        </p:txBody>
      </p:sp>
      <p:sp>
        <p:nvSpPr>
          <p:cNvPr id="261" name="Google Shape;261;p36"/>
          <p:cNvSpPr txBox="1"/>
          <p:nvPr>
            <p:ph idx="1" type="body"/>
          </p:nvPr>
        </p:nvSpPr>
        <p:spPr>
          <a:xfrm>
            <a:off x="677334" y="1766656"/>
            <a:ext cx="8596668" cy="4536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使用 docker stats 命令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此命令可即時查看所有容器的資源使用情況，包括 CPU、記憶體、I/O 使用狀況，對於管理容器非常有幫助。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實時監控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學員可以看到每個容器的資源使用百分比，這有助於及時發現性能瓶頸或資源浪費的問題。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分析與調整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透過這些數據，學員可進行必要的調整，以優化容器的資源配置，提升整體系統效能。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監控輸出示範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當執行該命令後，會顯示容器名稱及其記憶體用量，如 NAME MEM USAGE / LIMIT test 130MiB / 256MiB，這樣能清楚看到容器的記憶體使用狀況。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設定的重要性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若沒有設置 --memory，容器會預設使用主機的全部記憶體，這樣可能造成主機資源耗盡，影響整體系統運行。</a:t>
            </a:r>
            <a:endParaRPr/>
          </a:p>
          <a:p>
            <a:pPr indent="-21082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7"/>
          <p:cNvSpPr txBox="1"/>
          <p:nvPr>
            <p:ph type="title"/>
          </p:nvPr>
        </p:nvSpPr>
        <p:spPr>
          <a:xfrm>
            <a:off x="677334" y="306705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docker stats</a:t>
            </a:r>
            <a:endParaRPr/>
          </a:p>
        </p:txBody>
      </p:sp>
      <p:pic>
        <p:nvPicPr>
          <p:cNvPr id="267" name="Google Shape;267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1057275"/>
            <a:ext cx="8596630" cy="57023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7"/>
          <p:cNvSpPr txBox="1"/>
          <p:nvPr/>
        </p:nvSpPr>
        <p:spPr>
          <a:xfrm>
            <a:off x="677545" y="1786255"/>
            <a:ext cx="9594215" cy="4399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CONTAINER ID            容器的唯一識別碼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NAME                        容器名稱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CPU %                       CPU 使用率比例。例：`0.15%` 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  表示這個容器目前用到整體 CPU 的 0.15%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MEM USAGE / LIMIT   顯示「目前記憶體使用量」與「容器限制值」。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  例：`141.3MiB /   200MiB` → 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  使用 141.3 MiB，最大可用 200 MiB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MEM %		      目前記憶體使用量相對於限制值的百分比。	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NET I/O                    容器的網路收發資料量：`接收 / 傳送`。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 例：`4.34kB / 1.98kB` 代表收了 4.34 kB、送出 1.98 kB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BLOCK I/O               容器對儲存裝置的「區塊層 I/O」存取量：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`讀取 / 寫入`。&lt;br&gt;例：`0B / 0B` 表示目前幾乎沒有磁碟讀寫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PIDS			     容器內目前的程序（process）數量。例：`6` 表示這個容器裡有 6 個進程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type="title"/>
          </p:nvPr>
        </p:nvSpPr>
        <p:spPr>
          <a:xfrm>
            <a:off x="677334" y="306705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docker stats</a:t>
            </a:r>
            <a:endParaRPr/>
          </a:p>
        </p:txBody>
      </p:sp>
      <p:sp>
        <p:nvSpPr>
          <p:cNvPr id="274" name="Google Shape;274;p38"/>
          <p:cNvSpPr txBox="1"/>
          <p:nvPr/>
        </p:nvSpPr>
        <p:spPr>
          <a:xfrm>
            <a:off x="677545" y="1786255"/>
            <a:ext cx="10220960" cy="164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再執行一次記憶體容器，並且另外開一個cmd輸入docker stats觀察容器狀態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docker update</a:t>
            </a:r>
            <a:endParaRPr/>
          </a:p>
        </p:txBody>
      </p:sp>
      <p:sp>
        <p:nvSpPr>
          <p:cNvPr id="280" name="Google Shape;280;p39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容器運行時可即時修改資源設定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使用 docker update 命令，學員能夠在容器運行時動態調整 CPU 和記憶體的配置，這對於處理突發流量或資源需求非常有用。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指令示範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例如，執行 docker update 《容器名稱》 --memory=500m</a:t>
            </a:r>
            <a:r>
              <a:rPr lang="en-US"/>
              <a:t> </a:t>
            </a:r>
            <a:r>
              <a:rPr lang="en-US"/>
              <a:t>--memory-swap=500m</a:t>
            </a:r>
            <a:r>
              <a:rPr lang="en-US" sz="16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，直接修改容器的記憶體上限，以適應新的需求。</a:t>
            </a:r>
            <a:endParaRPr sz="16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/>
              <a:t>docker update 706c6437582a --memory=500m --memory-swap=500m</a:t>
            </a:r>
            <a:endParaRPr/>
          </a:p>
          <a:p>
            <a:pPr indent="-30861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40"/>
              <a:buChar char="►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不管調高或調低，建議兩者設為相同，最乾淨也最直覺：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update --memory [新數值] --memory-swap [新數值] [容器名稱]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優點：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1. 預防報錯 2. 效能最穩 3. 超過直接重啟（好觀察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） </a:t>
            </a:r>
            <a:endParaRPr sz="1800"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162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 docker update</a:t>
            </a:r>
            <a:endParaRPr/>
          </a:p>
        </p:txBody>
      </p:sp>
      <p:sp>
        <p:nvSpPr>
          <p:cNvPr id="286" name="Google Shape;286;p40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使用 docker inspect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 sz="16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透過 docker inspect 《容器名稱》 --format '｛｛.HostConfig.MemorySwap｝｝' 來檢查容器的記憶體與交換空間設定，以便進一步調整。</a:t>
            </a:r>
            <a:endParaRPr sz="16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docker run --restart=always</a:t>
            </a:r>
            <a:endParaRPr/>
          </a:p>
        </p:txBody>
      </p:sp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只要容器停止後，如果再一開始docker run有預先加上這個參數</a:t>
            </a:r>
            <a:br>
              <a:rPr lang="en-US"/>
            </a:br>
            <a:r>
              <a:rPr lang="en-US"/>
              <a:t>就會每次自動啟動</a:t>
            </a:r>
            <a:endParaRPr/>
          </a:p>
          <a:p>
            <a:pPr indent="-25146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請學生實際演練，將容器加上這個參數，接著測試記憶體爆炸的步驟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休息一下</a:t>
            </a:r>
            <a:br>
              <a:rPr lang="en-US"/>
            </a:br>
            <a:endParaRPr/>
          </a:p>
        </p:txBody>
      </p:sp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學員提問</a:t>
            </a:r>
            <a:endParaRPr/>
          </a:p>
          <a:p>
            <a:pPr indent="-25146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docker logs</a:t>
            </a:r>
            <a:endParaRPr/>
          </a:p>
        </p:txBody>
      </p:sp>
      <p:sp>
        <p:nvSpPr>
          <p:cNvPr id="304" name="Google Shape;304;p43"/>
          <p:cNvSpPr txBox="1"/>
          <p:nvPr>
            <p:ph idx="1" type="body"/>
          </p:nvPr>
        </p:nvSpPr>
        <p:spPr>
          <a:xfrm>
            <a:off x="677334" y="1530037"/>
            <a:ext cx="9453494" cy="4511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想像你有一個日記本,記錄著你每天做了什麼事。Docker logs 就像是容器的日記本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為什麼需要它?</a:t>
            </a:r>
            <a:r>
              <a:rPr lang="en-US"/>
              <a:t> 當你的程式出問題時,你可以看看「日記」裡寫了什麼,找出哪裡出錯了。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下載log產生器的image 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https://hub.docker.com/r/vsn80395/logtest 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基本用法: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     docker logs 容器名稱</a:t>
            </a:r>
            <a:endParaRPr/>
          </a:p>
          <a:p>
            <a:pPr indent="-25146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6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6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docker logs(2)</a:t>
            </a:r>
            <a:endParaRPr/>
          </a:p>
        </p:txBody>
      </p:sp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677333" y="1530036"/>
            <a:ext cx="9771683" cy="5030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b="1" lang="en-US"/>
              <a:t>進階用法: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 即時監看最新 100 行，之後持續跟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docker logs -f --tail 100 myapp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看最近 10 分鐘內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docker logs --since 10m myapp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指定時間區間（10:00 ~ 11:00）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docker logs --since "2025-10-30T10:00:00+08:00" \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                 --until "2025-10-30T11:00:00+08:00" myapp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帶時間戳記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docker logs -t myapp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只看最後 50 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docker logs --tail 50 myapp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請學生實際演練，各個參數差別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請學生操作memoryconfig 操作記憶體量 並且另外開一個cmd輸入docker logs來觀察</a:t>
            </a:r>
            <a:endParaRPr/>
          </a:p>
          <a:p>
            <a:pPr indent="-258445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下載位置</a:t>
            </a:r>
            <a:endParaRPr/>
          </a:p>
        </p:txBody>
      </p:sp>
      <p:sp>
        <p:nvSpPr>
          <p:cNvPr id="316" name="Google Shape;316;p45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https://github.com/coolyuoo/CpuConfig 容器CPU控制原始檔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https://hub.docker.com/r/vsn80395/cpuconfig 容器CPU控制IMAGE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https://github.com/coolyuoo/MemoryConfig 容器記憶體控制原始檔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https://hub.docker.com/r/vsn80395/memoryconfig 容器記憶體控制IMAGE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https://hub.docker.com/r/vsn80395/logtest LOG產生器IMAGE</a:t>
            </a:r>
            <a:endParaRPr b="1"/>
          </a:p>
          <a:p>
            <a:pPr indent="-25146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/>
          </a:p>
          <a:p>
            <a:pPr indent="-25146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多面向">
  <a:themeElements>
    <a:clrScheme name="多面向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