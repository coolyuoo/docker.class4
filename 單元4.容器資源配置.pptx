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4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11" Type="http://schemas.openxmlformats.org/officeDocument/2006/relationships/slide" Target="slides/slide7.xml"/><Relationship Id="rId33" Type="http://schemas.openxmlformats.org/officeDocument/2006/relationships/slide" Target="slides/slide29.xml"/><Relationship Id="rId10" Type="http://schemas.openxmlformats.org/officeDocument/2006/relationships/slide" Target="slides/slide6.xml"/><Relationship Id="rId32" Type="http://schemas.openxmlformats.org/officeDocument/2006/relationships/slide" Target="slides/slide28.xml"/><Relationship Id="rId13" Type="http://schemas.openxmlformats.org/officeDocument/2006/relationships/slide" Target="slides/slide9.xml"/><Relationship Id="rId35" Type="http://schemas.openxmlformats.org/officeDocument/2006/relationships/slide" Target="slides/slide31.xml"/><Relationship Id="rId12" Type="http://schemas.openxmlformats.org/officeDocument/2006/relationships/slide" Target="slides/slide8.xml"/><Relationship Id="rId34" Type="http://schemas.openxmlformats.org/officeDocument/2006/relationships/slide" Target="slides/slide30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7" name="Google Shape;27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投影片" showMasterSp="0" type="title">
  <p:cSld name="TITL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oogle Shape;27;p2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8" name="Google Shape;28;p2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9" name="Google Shape;29;p2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0" name="Google Shape;30;p2"/>
            <p:cNvSpPr/>
            <p:nvPr/>
          </p:nvSpPr>
          <p:spPr>
            <a:xfrm>
              <a:off x="9181476" y="-8467"/>
              <a:ext cx="3007349" cy="6866467"/>
            </a:xfrm>
            <a:custGeom>
              <a:rect b="b" l="l" r="r" t="t"/>
              <a:pathLst>
                <a:path extrusionOk="0"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803"/>
              </a:schemeClr>
            </a:solidFill>
            <a:ln>
              <a:noFill/>
            </a:ln>
          </p:spPr>
        </p:sp>
        <p:sp>
          <p:nvSpPr>
            <p:cNvPr id="31" name="Google Shape;31;p2"/>
            <p:cNvSpPr/>
            <p:nvPr/>
          </p:nvSpPr>
          <p:spPr>
            <a:xfrm>
              <a:off x="9603442" y="-8467"/>
              <a:ext cx="2588558" cy="6866467"/>
            </a:xfrm>
            <a:custGeom>
              <a:rect b="b" l="l" r="r" t="t"/>
              <a:pathLst>
                <a:path extrusionOk="0"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32" name="Google Shape;32;p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1764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9334500" y="-8467"/>
              <a:ext cx="2854326" cy="6866467"/>
            </a:xfrm>
            <a:custGeom>
              <a:rect b="b" l="l" r="r" t="t"/>
              <a:pathLst>
                <a:path extrusionOk="0"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803"/>
              </a:srgbClr>
            </a:solidFill>
            <a:ln>
              <a:noFill/>
            </a:ln>
          </p:spPr>
        </p:sp>
        <p:sp>
          <p:nvSpPr>
            <p:cNvPr id="34" name="Google Shape;34;p2"/>
            <p:cNvSpPr/>
            <p:nvPr/>
          </p:nvSpPr>
          <p:spPr>
            <a:xfrm>
              <a:off x="10898730" y="-8467"/>
              <a:ext cx="1290094" cy="6866467"/>
            </a:xfrm>
            <a:custGeom>
              <a:rect b="b" l="l" r="r" t="t"/>
              <a:pathLst>
                <a:path extrusionOk="0"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803"/>
              </a:srgbClr>
            </a:solidFill>
            <a:ln>
              <a:noFill/>
            </a:ln>
          </p:spPr>
        </p:sp>
        <p:sp>
          <p:nvSpPr>
            <p:cNvPr id="35" name="Google Shape;35;p2"/>
            <p:cNvSpPr/>
            <p:nvPr/>
          </p:nvSpPr>
          <p:spPr>
            <a:xfrm>
              <a:off x="10938999" y="-8467"/>
              <a:ext cx="1249825" cy="6866467"/>
            </a:xfrm>
            <a:custGeom>
              <a:rect b="b" l="l" r="r" t="t"/>
              <a:pathLst>
                <a:path extrusionOk="0"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705"/>
              </a:schemeClr>
            </a:solidFill>
            <a:ln>
              <a:noFill/>
            </a:ln>
          </p:spPr>
        </p:sp>
        <p:sp>
          <p:nvSpPr>
            <p:cNvPr id="36" name="Google Shape;36;p2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;p2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4705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8" name="Google Shape;38;p2"/>
          <p:cNvSpPr txBox="1"/>
          <p:nvPr>
            <p:ph type="ctrTitle"/>
          </p:nvPr>
        </p:nvSpPr>
        <p:spPr>
          <a:xfrm>
            <a:off x="1507067" y="2404534"/>
            <a:ext cx="7766936" cy="164630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Trebuchet MS"/>
              <a:buNone/>
              <a:defRPr sz="54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"/>
          <p:cNvSpPr txBox="1"/>
          <p:nvPr>
            <p:ph idx="1" type="subTitle"/>
          </p:nvPr>
        </p:nvSpPr>
        <p:spPr>
          <a:xfrm>
            <a:off x="1507067" y="4050833"/>
            <a:ext cx="7766936" cy="10968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  <a:defRPr>
                <a:solidFill>
                  <a:srgbClr val="7F7F7F"/>
                </a:solidFill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2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2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內容" type="obj">
  <p:cSld name="OBJECT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3"/>
          <p:cNvSpPr txBox="1"/>
          <p:nvPr>
            <p:ph idx="1" type="body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4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4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4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4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4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46" name="Google Shape;46;p3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章節標題" type="secHead">
  <p:cSld name="SECTION_HEADER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 txBox="1"/>
          <p:nvPr>
            <p:ph type="title"/>
          </p:nvPr>
        </p:nvSpPr>
        <p:spPr>
          <a:xfrm>
            <a:off x="677335" y="2700867"/>
            <a:ext cx="8596668" cy="182658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Font typeface="Trebuchet MS"/>
              <a:buNone/>
              <a:defRPr b="0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4"/>
          <p:cNvSpPr txBox="1"/>
          <p:nvPr>
            <p:ph idx="1" type="body"/>
          </p:nvPr>
        </p:nvSpPr>
        <p:spPr>
          <a:xfrm>
            <a:off x="677335" y="4527448"/>
            <a:ext cx="8596668" cy="8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2000">
                <a:solidFill>
                  <a:srgbClr val="7F7F7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2" name="Google Shape;52;p4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4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4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兩個內容" type="twoObj">
  <p:cSld name="TWO_OBJECTS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5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5"/>
          <p:cNvSpPr txBox="1"/>
          <p:nvPr>
            <p:ph idx="1" type="body"/>
          </p:nvPr>
        </p:nvSpPr>
        <p:spPr>
          <a:xfrm>
            <a:off x="677334" y="2160589"/>
            <a:ext cx="4184035" cy="38807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4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4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4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4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4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58" name="Google Shape;58;p5"/>
          <p:cNvSpPr txBox="1"/>
          <p:nvPr>
            <p:ph idx="2" type="body"/>
          </p:nvPr>
        </p:nvSpPr>
        <p:spPr>
          <a:xfrm>
            <a:off x="5089970" y="2160589"/>
            <a:ext cx="4184034" cy="3880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4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4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4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4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4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59" name="Google Shape;59;p5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5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5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較" type="twoTxTwoObj">
  <p:cSld name="TWO_OBJECTS_WITH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6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6"/>
          <p:cNvSpPr txBox="1"/>
          <p:nvPr>
            <p:ph idx="1" type="body"/>
          </p:nvPr>
        </p:nvSpPr>
        <p:spPr>
          <a:xfrm>
            <a:off x="675745" y="2160983"/>
            <a:ext cx="4185623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/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65" name="Google Shape;65;p6"/>
          <p:cNvSpPr txBox="1"/>
          <p:nvPr>
            <p:ph idx="2" type="body"/>
          </p:nvPr>
        </p:nvSpPr>
        <p:spPr>
          <a:xfrm>
            <a:off x="675745" y="2737245"/>
            <a:ext cx="4185623" cy="330411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4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4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4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4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4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66" name="Google Shape;66;p6"/>
          <p:cNvSpPr txBox="1"/>
          <p:nvPr>
            <p:ph idx="3" type="body"/>
          </p:nvPr>
        </p:nvSpPr>
        <p:spPr>
          <a:xfrm>
            <a:off x="5088383" y="2160983"/>
            <a:ext cx="4185618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/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67" name="Google Shape;67;p6"/>
          <p:cNvSpPr txBox="1"/>
          <p:nvPr>
            <p:ph idx="4" type="body"/>
          </p:nvPr>
        </p:nvSpPr>
        <p:spPr>
          <a:xfrm>
            <a:off x="5088384" y="2737245"/>
            <a:ext cx="4185617" cy="330411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4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4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4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4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4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68" name="Google Shape;68;p6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6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6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只有標題" type="titleOnly">
  <p:cSld name="TITLE_ONLY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7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7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7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7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8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8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8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內容" type="objTx">
  <p:cSld name="OBJECT_WITH_CAPTION_TEXT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9"/>
          <p:cNvSpPr txBox="1"/>
          <p:nvPr>
            <p:ph type="title"/>
          </p:nvPr>
        </p:nvSpPr>
        <p:spPr>
          <a:xfrm>
            <a:off x="677334" y="1498604"/>
            <a:ext cx="3854528" cy="127846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Trebuchet MS"/>
              <a:buNone/>
              <a:defRPr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9"/>
          <p:cNvSpPr txBox="1"/>
          <p:nvPr>
            <p:ph idx="1" type="body"/>
          </p:nvPr>
        </p:nvSpPr>
        <p:spPr>
          <a:xfrm>
            <a:off x="4760461" y="514924"/>
            <a:ext cx="4513541" cy="5526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4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4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4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4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4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83" name="Google Shape;83;p9"/>
          <p:cNvSpPr txBox="1"/>
          <p:nvPr>
            <p:ph idx="2" type="body"/>
          </p:nvPr>
        </p:nvSpPr>
        <p:spPr>
          <a:xfrm>
            <a:off x="677334" y="2777069"/>
            <a:ext cx="3854528" cy="25844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9pPr>
          </a:lstStyle>
          <a:p/>
        </p:txBody>
      </p:sp>
      <p:sp>
        <p:nvSpPr>
          <p:cNvPr id="84" name="Google Shape;84;p9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9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9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圖片" type="picTx">
  <p:cSld name="PICTURE_WITH_CAPTION_TEXT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0"/>
          <p:cNvSpPr txBox="1"/>
          <p:nvPr>
            <p:ph type="title"/>
          </p:nvPr>
        </p:nvSpPr>
        <p:spPr>
          <a:xfrm>
            <a:off x="677334" y="4800600"/>
            <a:ext cx="8596667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  <a:defRPr b="0"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0"/>
          <p:cNvSpPr/>
          <p:nvPr>
            <p:ph idx="2" type="pic"/>
          </p:nvPr>
        </p:nvSpPr>
        <p:spPr>
          <a:xfrm>
            <a:off x="677334" y="609600"/>
            <a:ext cx="8596668" cy="3845718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10"/>
          <p:cNvSpPr txBox="1"/>
          <p:nvPr>
            <p:ph idx="1" type="body"/>
          </p:nvPr>
        </p:nvSpPr>
        <p:spPr>
          <a:xfrm>
            <a:off x="677334" y="5367338"/>
            <a:ext cx="8596667" cy="6740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91" name="Google Shape;91;p10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0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0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與輔助字幕">
  <p:cSld name="標題與輔助字幕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1"/>
          <p:cNvSpPr txBox="1"/>
          <p:nvPr>
            <p:ph type="title"/>
          </p:nvPr>
        </p:nvSpPr>
        <p:spPr>
          <a:xfrm>
            <a:off x="677335" y="609600"/>
            <a:ext cx="8596668" cy="340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/>
              <a:buNone/>
              <a:defRPr b="0" sz="44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1"/>
          <p:cNvSpPr txBox="1"/>
          <p:nvPr>
            <p:ph idx="1" type="body"/>
          </p:nvPr>
        </p:nvSpPr>
        <p:spPr>
          <a:xfrm>
            <a:off x="677335" y="4470400"/>
            <a:ext cx="8596668" cy="15709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3F3F3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97" name="Google Shape;97;p11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11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11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引述 (含輔助字幕)">
  <p:cSld name="引述 (含輔助字幕)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2"/>
          <p:cNvSpPr txBox="1"/>
          <p:nvPr>
            <p:ph type="title"/>
          </p:nvPr>
        </p:nvSpPr>
        <p:spPr>
          <a:xfrm>
            <a:off x="931334" y="609600"/>
            <a:ext cx="8094134" cy="30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/>
              <a:buNone/>
              <a:defRPr b="0" sz="44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12"/>
          <p:cNvSpPr txBox="1"/>
          <p:nvPr>
            <p:ph idx="1" type="body"/>
          </p:nvPr>
        </p:nvSpPr>
        <p:spPr>
          <a:xfrm>
            <a:off x="1366139" y="3632200"/>
            <a:ext cx="7224524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Font typeface="Trebuchet MS"/>
              <a:buNone/>
              <a:defRPr sz="1600">
                <a:solidFill>
                  <a:srgbClr val="7F7F7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Font typeface="Trebuchet MS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Font typeface="Trebuchet MS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Font typeface="Trebuchet MS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Font typeface="Trebuchet MS"/>
              <a:buNone/>
              <a:defRPr/>
            </a:lvl5pPr>
            <a:lvl6pPr indent="-32004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4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03" name="Google Shape;103;p12"/>
          <p:cNvSpPr txBox="1"/>
          <p:nvPr>
            <p:ph idx="2" type="body"/>
          </p:nvPr>
        </p:nvSpPr>
        <p:spPr>
          <a:xfrm>
            <a:off x="677335" y="4470400"/>
            <a:ext cx="8596668" cy="15709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3F3F3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04" name="Google Shape;104;p12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12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12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7" name="Google Shape;107;p12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Arial"/>
              <a:buNone/>
            </a:pPr>
            <a:r>
              <a:rPr b="0" i="0" lang="en-US" sz="8000" u="none" cap="none" strike="noStrike">
                <a:solidFill>
                  <a:srgbClr val="BFE47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endParaRPr b="0" i="0" sz="8000" u="none" cap="none" strike="noStrike">
              <a:solidFill>
                <a:srgbClr val="BFE47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12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Arial"/>
              <a:buNone/>
            </a:pPr>
            <a:r>
              <a:rPr b="0" i="0" lang="en-US" sz="8000" u="none" cap="none" strike="noStrike">
                <a:solidFill>
                  <a:srgbClr val="BFE47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endParaRPr b="0" i="0" sz="1800" u="none" cap="none" strike="noStrike">
              <a:solidFill>
                <a:srgbClr val="BFE47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名片">
  <p:cSld name="名片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5" y="1931988"/>
            <a:ext cx="8596668" cy="25954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/>
              <a:buNone/>
              <a:defRPr b="0" sz="44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13"/>
          <p:cNvSpPr txBox="1"/>
          <p:nvPr>
            <p:ph idx="1" type="body"/>
          </p:nvPr>
        </p:nvSpPr>
        <p:spPr>
          <a:xfrm>
            <a:off x="677335" y="4527448"/>
            <a:ext cx="8596668" cy="15139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3F3F3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12" name="Google Shape;112;p13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13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13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引述名片">
  <p:cSld name="引述名片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4"/>
          <p:cNvSpPr txBox="1"/>
          <p:nvPr>
            <p:ph type="title"/>
          </p:nvPr>
        </p:nvSpPr>
        <p:spPr>
          <a:xfrm>
            <a:off x="931334" y="609600"/>
            <a:ext cx="8094134" cy="30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/>
              <a:buNone/>
              <a:defRPr b="0" sz="44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14"/>
          <p:cNvSpPr txBox="1"/>
          <p:nvPr>
            <p:ph idx="1" type="body"/>
          </p:nvPr>
        </p:nvSpPr>
        <p:spPr>
          <a:xfrm>
            <a:off x="677332" y="4013200"/>
            <a:ext cx="8596669" cy="51424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20"/>
              <a:buFont typeface="Trebuchet MS"/>
              <a:buNone/>
              <a:defRPr sz="2400">
                <a:solidFill>
                  <a:srgbClr val="3F3F3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Font typeface="Trebuchet MS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Font typeface="Trebuchet MS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Font typeface="Trebuchet MS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Font typeface="Trebuchet MS"/>
              <a:buNone/>
              <a:defRPr/>
            </a:lvl5pPr>
            <a:lvl6pPr indent="-32004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4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18" name="Google Shape;118;p14"/>
          <p:cNvSpPr txBox="1"/>
          <p:nvPr>
            <p:ph idx="2" type="body"/>
          </p:nvPr>
        </p:nvSpPr>
        <p:spPr>
          <a:xfrm>
            <a:off x="677335" y="4527448"/>
            <a:ext cx="8596668" cy="15139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7F7F7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19" name="Google Shape;119;p14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14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14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2" name="Google Shape;122;p14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Arial"/>
              <a:buNone/>
            </a:pPr>
            <a:r>
              <a:rPr b="0" i="0" lang="en-US" sz="8000" u="none" cap="none" strike="noStrike">
                <a:solidFill>
                  <a:srgbClr val="BFE47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endParaRPr b="0" i="0" sz="8000" u="none" cap="none" strike="noStrike">
              <a:solidFill>
                <a:srgbClr val="BFE47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Arial"/>
              <a:buNone/>
            </a:pPr>
            <a:r>
              <a:rPr b="0" i="0" lang="en-US" sz="8000" u="none" cap="none" strike="noStrike">
                <a:solidFill>
                  <a:srgbClr val="BFE47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endParaRPr b="0" i="0" sz="8000" u="none" cap="none" strike="noStrike">
              <a:solidFill>
                <a:srgbClr val="BFE47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是非題">
  <p:cSld name="是非題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5"/>
          <p:cNvSpPr txBox="1"/>
          <p:nvPr>
            <p:ph type="title"/>
          </p:nvPr>
        </p:nvSpPr>
        <p:spPr>
          <a:xfrm>
            <a:off x="685799" y="609600"/>
            <a:ext cx="8588203" cy="30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/>
              <a:buNone/>
              <a:defRPr b="0" sz="44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15"/>
          <p:cNvSpPr txBox="1"/>
          <p:nvPr>
            <p:ph idx="1" type="body"/>
          </p:nvPr>
        </p:nvSpPr>
        <p:spPr>
          <a:xfrm>
            <a:off x="677332" y="4013200"/>
            <a:ext cx="8596669" cy="51424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20"/>
              <a:buFont typeface="Trebuchet MS"/>
              <a:buNone/>
              <a:defRPr sz="24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Font typeface="Trebuchet MS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Font typeface="Trebuchet MS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Font typeface="Trebuchet MS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60"/>
              <a:buFont typeface="Trebuchet MS"/>
              <a:buNone/>
              <a:defRPr/>
            </a:lvl5pPr>
            <a:lvl6pPr indent="-32004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4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27" name="Google Shape;127;p15"/>
          <p:cNvSpPr txBox="1"/>
          <p:nvPr>
            <p:ph idx="2" type="body"/>
          </p:nvPr>
        </p:nvSpPr>
        <p:spPr>
          <a:xfrm>
            <a:off x="677335" y="4527448"/>
            <a:ext cx="8596668" cy="15139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7F7F7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28" name="Google Shape;128;p15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15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15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直排文字" type="vertTx">
  <p:cSld name="VERTICAL_TEX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6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16"/>
          <p:cNvSpPr txBox="1"/>
          <p:nvPr>
            <p:ph idx="1" type="body"/>
          </p:nvPr>
        </p:nvSpPr>
        <p:spPr>
          <a:xfrm rot="5400000">
            <a:off x="3035281" y="-197358"/>
            <a:ext cx="3880773" cy="85966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4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4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4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4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4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34" name="Google Shape;134;p16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6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p16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直排標題及文字" type="vertTitleAndTx">
  <p:cSld name="VERTICAL_TITLE_AND_VERTICAL_TEXT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7"/>
          <p:cNvSpPr txBox="1"/>
          <p:nvPr>
            <p:ph type="title"/>
          </p:nvPr>
        </p:nvSpPr>
        <p:spPr>
          <a:xfrm rot="5400000">
            <a:off x="5994319" y="2582953"/>
            <a:ext cx="5251451" cy="13047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p17"/>
          <p:cNvSpPr txBox="1"/>
          <p:nvPr>
            <p:ph idx="1" type="body"/>
          </p:nvPr>
        </p:nvSpPr>
        <p:spPr>
          <a:xfrm rot="5400000">
            <a:off x="1581685" y="-294750"/>
            <a:ext cx="5251450" cy="70601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4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4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4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4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4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40" name="Google Shape;140;p17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p17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17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theme" Target="../theme/theme2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1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1" name="Google Shape;11;p1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" name="Google Shape;12;p1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3" name="Google Shape;13;p1"/>
            <p:cNvSpPr/>
            <p:nvPr/>
          </p:nvSpPr>
          <p:spPr>
            <a:xfrm>
              <a:off x="9181476" y="-8467"/>
              <a:ext cx="3007349" cy="6866467"/>
            </a:xfrm>
            <a:custGeom>
              <a:rect b="b" l="l" r="r" t="t"/>
              <a:pathLst>
                <a:path extrusionOk="0"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803"/>
              </a:schemeClr>
            </a:solidFill>
            <a:ln>
              <a:noFill/>
            </a:ln>
          </p:spPr>
        </p:sp>
        <p:sp>
          <p:nvSpPr>
            <p:cNvPr id="14" name="Google Shape;14;p1"/>
            <p:cNvSpPr/>
            <p:nvPr/>
          </p:nvSpPr>
          <p:spPr>
            <a:xfrm>
              <a:off x="9603442" y="-8467"/>
              <a:ext cx="2588558" cy="6866467"/>
            </a:xfrm>
            <a:custGeom>
              <a:rect b="b" l="l" r="r" t="t"/>
              <a:pathLst>
                <a:path extrusionOk="0"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15" name="Google Shape;15;p1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1764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6;p1"/>
            <p:cNvSpPr/>
            <p:nvPr/>
          </p:nvSpPr>
          <p:spPr>
            <a:xfrm>
              <a:off x="9334500" y="-8467"/>
              <a:ext cx="2854326" cy="6866467"/>
            </a:xfrm>
            <a:custGeom>
              <a:rect b="b" l="l" r="r" t="t"/>
              <a:pathLst>
                <a:path extrusionOk="0"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803"/>
              </a:srgbClr>
            </a:solidFill>
            <a:ln>
              <a:noFill/>
            </a:ln>
          </p:spPr>
        </p:sp>
        <p:sp>
          <p:nvSpPr>
            <p:cNvPr id="17" name="Google Shape;17;p1"/>
            <p:cNvSpPr/>
            <p:nvPr/>
          </p:nvSpPr>
          <p:spPr>
            <a:xfrm>
              <a:off x="10898730" y="-8467"/>
              <a:ext cx="1290094" cy="6866467"/>
            </a:xfrm>
            <a:custGeom>
              <a:rect b="b" l="l" r="r" t="t"/>
              <a:pathLst>
                <a:path extrusionOk="0"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803"/>
              </a:srgbClr>
            </a:solidFill>
            <a:ln>
              <a:noFill/>
            </a:ln>
          </p:spPr>
        </p:sp>
        <p:sp>
          <p:nvSpPr>
            <p:cNvPr id="18" name="Google Shape;18;p1"/>
            <p:cNvSpPr/>
            <p:nvPr/>
          </p:nvSpPr>
          <p:spPr>
            <a:xfrm>
              <a:off x="10938999" y="-8467"/>
              <a:ext cx="1249825" cy="6866467"/>
            </a:xfrm>
            <a:custGeom>
              <a:rect b="b" l="l" r="r" t="t"/>
              <a:pathLst>
                <a:path extrusionOk="0"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705"/>
              </a:schemeClr>
            </a:solidFill>
            <a:ln>
              <a:noFill/>
            </a:ln>
          </p:spPr>
        </p:sp>
        <p:sp>
          <p:nvSpPr>
            <p:cNvPr id="19" name="Google Shape;19;p1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p1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4705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" name="Google Shape;21;p1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  <a:defRPr b="0" i="0" sz="36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2" name="Google Shape;22;p1"/>
          <p:cNvSpPr txBox="1"/>
          <p:nvPr>
            <p:ph idx="1" type="body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40"/>
              <a:buFont typeface="Noto Sans Symbols"/>
              <a:buChar char="►"/>
              <a:defRPr b="0" i="0" sz="18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-30988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280"/>
              <a:buFont typeface="Noto Sans Symbols"/>
              <a:buChar char="►"/>
              <a:defRPr b="0" i="0" sz="16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-299720" lvl="2" marL="13716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120"/>
              <a:buFont typeface="Noto Sans Symbols"/>
              <a:buChar char="►"/>
              <a:defRPr b="0" i="0" sz="14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-289560" lvl="3" marL="18288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b="0" i="0" sz="12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-289560" lvl="4" marL="22860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b="0" i="0" sz="12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-289560" lvl="5" marL="2743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b="0" i="0" sz="12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-289560" lvl="6" marL="3200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b="0" i="0" sz="12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-289560" lvl="7" marL="36576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b="0" i="0" sz="12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-289560" lvl="8" marL="41148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b="0" i="0" sz="12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/>
        </p:txBody>
      </p:sp>
      <p:sp>
        <p:nvSpPr>
          <p:cNvPr id="23" name="Google Shape;23;p1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/>
        </p:txBody>
      </p:sp>
      <p:sp>
        <p:nvSpPr>
          <p:cNvPr id="24" name="Google Shape;24;p1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/>
        </p:txBody>
      </p:sp>
      <p:sp>
        <p:nvSpPr>
          <p:cNvPr id="25" name="Google Shape;25;p1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8"/>
          <p:cNvSpPr txBox="1"/>
          <p:nvPr>
            <p:ph type="ctrTitle"/>
          </p:nvPr>
        </p:nvSpPr>
        <p:spPr>
          <a:xfrm>
            <a:off x="2023040" y="1393793"/>
            <a:ext cx="6734989" cy="113008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Trebuchet MS"/>
              <a:buNone/>
            </a:pPr>
            <a:r>
              <a:rPr lang="en-US"/>
              <a:t>單元4.容器資源配置</a:t>
            </a:r>
            <a:endParaRPr/>
          </a:p>
        </p:txBody>
      </p:sp>
      <p:sp>
        <p:nvSpPr>
          <p:cNvPr id="148" name="Google Shape;148;p18"/>
          <p:cNvSpPr txBox="1"/>
          <p:nvPr>
            <p:ph idx="1" type="subTitle"/>
          </p:nvPr>
        </p:nvSpPr>
        <p:spPr>
          <a:xfrm>
            <a:off x="1507067" y="4050833"/>
            <a:ext cx="7766936" cy="10968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授課講師:Kevin</a:t>
            </a:r>
            <a:endParaRPr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9"/>
          <p:cNvSpPr txBox="1"/>
          <p:nvPr>
            <p:ph type="ctrTitle"/>
          </p:nvPr>
        </p:nvSpPr>
        <p:spPr>
          <a:xfrm>
            <a:off x="1338470" y="278296"/>
            <a:ext cx="1919046" cy="110885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Trebuchet MS"/>
              <a:buNone/>
            </a:pPr>
            <a:r>
              <a:rPr lang="en-US"/>
              <a:t>目錄:</a:t>
            </a:r>
            <a:endParaRPr/>
          </a:p>
        </p:txBody>
      </p:sp>
      <p:sp>
        <p:nvSpPr>
          <p:cNvPr id="154" name="Google Shape;154;p19"/>
          <p:cNvSpPr txBox="1"/>
          <p:nvPr>
            <p:ph idx="1" type="subTitle"/>
          </p:nvPr>
        </p:nvSpPr>
        <p:spPr>
          <a:xfrm>
            <a:off x="1468550" y="1471070"/>
            <a:ext cx="5067900" cy="4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20000"/>
          </a:bodyPr>
          <a:lstStyle/>
          <a:p>
            <a:pPr indent="-27813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80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</a:rPr>
              <a:t>.dockerignore建立</a:t>
            </a:r>
            <a:endParaRPr sz="2000">
              <a:solidFill>
                <a:schemeClr val="dk1"/>
              </a:solidFill>
            </a:endParaRPr>
          </a:p>
          <a:p>
            <a:pPr indent="-278130" lvl="0" marL="2857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</a:rPr>
              <a:t>為什麼要限制資源？</a:t>
            </a:r>
            <a:endParaRPr sz="2000">
              <a:solidFill>
                <a:schemeClr val="dk1"/>
              </a:solidFill>
            </a:endParaRPr>
          </a:p>
          <a:p>
            <a:pPr indent="-278130" lvl="0" marL="2857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</a:rPr>
              <a:t>容器記憶體設定–-memory參數解析</a:t>
            </a:r>
            <a:endParaRPr sz="2000">
              <a:solidFill>
                <a:schemeClr val="dk1"/>
              </a:solidFill>
            </a:endParaRPr>
          </a:p>
          <a:p>
            <a:pPr indent="-278130" lvl="0" marL="2857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</a:rPr>
              <a:t>讓容器的記憶體爆炸</a:t>
            </a:r>
            <a:endParaRPr sz="2000">
              <a:solidFill>
                <a:schemeClr val="dk1"/>
              </a:solidFill>
            </a:endParaRPr>
          </a:p>
          <a:p>
            <a:pPr indent="-278130" lvl="0" marL="2857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</a:rPr>
              <a:t>docker stats </a:t>
            </a:r>
            <a:endParaRPr sz="2000">
              <a:solidFill>
                <a:schemeClr val="dk1"/>
              </a:solidFill>
            </a:endParaRPr>
          </a:p>
          <a:p>
            <a:pPr indent="-278130" lvl="0" marL="2857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</a:rPr>
              <a:t>docker update</a:t>
            </a:r>
            <a:endParaRPr sz="2000">
              <a:solidFill>
                <a:schemeClr val="dk1"/>
              </a:solidFill>
            </a:endParaRPr>
          </a:p>
          <a:p>
            <a:pPr indent="-278130" lvl="0" marL="2857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</a:rPr>
              <a:t>docker run –restart=always</a:t>
            </a:r>
            <a:endParaRPr sz="2000">
              <a:solidFill>
                <a:schemeClr val="dk1"/>
              </a:solidFill>
            </a:endParaRPr>
          </a:p>
          <a:p>
            <a:pPr indent="-278130" lvl="0" marL="2857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</a:rPr>
              <a:t>docker logs</a:t>
            </a:r>
            <a:endParaRPr sz="2000">
              <a:solidFill>
                <a:schemeClr val="dk1"/>
              </a:solidFill>
            </a:endParaRPr>
          </a:p>
          <a:p>
            <a:pPr indent="-184150" lvl="0" marL="2857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Font typeface="Arial"/>
              <a:buNone/>
            </a:pPr>
            <a:r>
              <a:t/>
            </a:r>
            <a:endParaRPr sz="2000"/>
          </a:p>
          <a:p>
            <a:pPr indent="-143510" lvl="0" marL="2857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Font typeface="Arial"/>
              <a:buNone/>
            </a:pPr>
            <a:r>
              <a:t/>
            </a:r>
            <a:endParaRPr sz="2800"/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51429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0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/>
              <a:t>課程導入</a:t>
            </a:r>
            <a:endParaRPr/>
          </a:p>
        </p:txBody>
      </p:sp>
      <p:sp>
        <p:nvSpPr>
          <p:cNvPr id="160" name="Google Shape;160;p20"/>
          <p:cNvSpPr txBox="1"/>
          <p:nvPr>
            <p:ph idx="1" type="body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減少image的容量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學會限制容器的 CPU 與記憶體使用量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透過實際操作，學員將能掌握如何在 Docker 中使用資源限制，進而提高應用的穩定性與效能。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瞭解資源限制對效能的影響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學員將能分析在限制資源後容器的效能變化，瞭解在不同的配置下應用的運作情形。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實際測試容器在不同限制下的行為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透過實作，學員將體會不同資源限制對容器行為的影響，並學會如何調整配置以達到最佳效能。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1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/>
              <a:t> .dockerignore 的基本概念</a:t>
            </a:r>
            <a:endParaRPr/>
          </a:p>
        </p:txBody>
      </p:sp>
      <p:sp>
        <p:nvSpPr>
          <p:cNvPr id="166" name="Google Shape;166;p21"/>
          <p:cNvSpPr txBox="1"/>
          <p:nvPr>
            <p:ph idx="1" type="body"/>
          </p:nvPr>
        </p:nvSpPr>
        <p:spPr>
          <a:xfrm>
            <a:off x="677545" y="1584960"/>
            <a:ext cx="8596630" cy="466280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定義與功能</a:t>
            </a:r>
            <a:r>
              <a:rPr lang="en-US"/>
              <a:t>：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.dockerignore 文件的主要作用是告訴 Docker 在執行 docker build 時，哪些本地檔案或資料夾應該被忽略。這一行為與 .gitignore 文件的目的相似，都是為了減少不必要的檔案納入版本控制或建置過程中。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優化建置過程</a:t>
            </a:r>
            <a:r>
              <a:rPr lang="en-US"/>
              <a:t>：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當構建上下文（build context）越小時，Docker 在傳輸檔案的過程中，所需的時間和資源自然會減少，這會直接影響到鏡像的建構速度和最終的鏡像大小。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避免敏感資料洩露</a:t>
            </a:r>
            <a:r>
              <a:rPr lang="en-US"/>
              <a:t>：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使用 .dockerignore 文件可以有效防止敏感資料（如密鑰、密碼、配置檔案等）誤被納入建構的映像中，從而提高安全性。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b="1" lang="en-US" sz="1600"/>
              <a:t>使用注意事項</a:t>
            </a:r>
            <a:r>
              <a:rPr lang="en-US" sz="1600"/>
              <a:t>：</a:t>
            </a:r>
            <a:endParaRPr sz="1600"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/>
              <a:t>使用 .dockerignore 時需謹慎，確保不會錯過任何必要的檔案，特別是在大型項目中，可能有許多檔案需要被排除。</a:t>
            </a:r>
            <a:endParaRPr sz="1600"/>
          </a:p>
          <a:p>
            <a:pPr indent="-20447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2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/>
              <a:t>.dockerignore 的基本概念 </a:t>
            </a:r>
            <a:br>
              <a:rPr lang="en-US"/>
            </a:br>
            <a:r>
              <a:rPr lang="en-US"/>
              <a:t>實際操作示範</a:t>
            </a:r>
            <a:endParaRPr/>
          </a:p>
        </p:txBody>
      </p:sp>
      <p:sp>
        <p:nvSpPr>
          <p:cNvPr id="172" name="Google Shape;172;p22"/>
          <p:cNvSpPr txBox="1"/>
          <p:nvPr>
            <p:ph idx="1" type="body"/>
          </p:nvPr>
        </p:nvSpPr>
        <p:spPr>
          <a:xfrm>
            <a:off x="677545" y="1852295"/>
            <a:ext cx="918591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77500" lnSpcReduction="20000"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80000"/>
              <a:buChar char="►"/>
            </a:pPr>
            <a:r>
              <a:rPr b="1" lang="en-US" sz="1800"/>
              <a:t>創建 </a:t>
            </a:r>
            <a:r>
              <a:rPr lang="en-US" sz="1800"/>
              <a:t>.dockerignore</a:t>
            </a:r>
            <a:r>
              <a:rPr b="1" lang="en-US" sz="1800"/>
              <a:t> 文件</a:t>
            </a:r>
            <a:r>
              <a:rPr lang="en-US" sz="1800"/>
              <a:t>：</a:t>
            </a:r>
            <a:endParaRPr sz="1800"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/>
              <a:t>在專案的根目錄下(學員上次建立的Dockerfile)，</a:t>
            </a:r>
            <a:endParaRPr sz="1800"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/>
              <a:t>或是下載https://github.com/coolyuoo/ClassHello </a:t>
            </a:r>
            <a:endParaRPr sz="1800"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/>
              <a:t>建立一個名為 .dockerignore 的新文件，並根據實際需求添加要忽略的檔案和資料夾。</a:t>
            </a:r>
            <a:endParaRPr sz="1800"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b="1" lang="en-US" sz="1800"/>
              <a:t>建構鏡像</a:t>
            </a:r>
            <a:r>
              <a:rPr lang="en-US" sz="1800"/>
              <a:t>：</a:t>
            </a:r>
            <a:endParaRPr sz="1800"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/>
              <a:t>完成 .dockerignore 文件的編輯後，可以使用 docker build --no-cache -t 《your_image_name》. 命令來構建新的 Docker 鏡像，您將會發現建構速度有明顯的提升。</a:t>
            </a:r>
            <a:endParaRPr sz="1800"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b="1" lang="en-US" sz="1800"/>
              <a:t>效果驗證</a:t>
            </a:r>
            <a:r>
              <a:rPr lang="en-US" sz="1800"/>
              <a:t>：</a:t>
            </a:r>
            <a:endParaRPr sz="1800"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/>
              <a:t>在實際建構後，可以檢查生成的鏡像大小，並與未使用 .dockerignore 前的鏡像進行比較，以評估優化效果。</a:t>
            </a:r>
            <a:endParaRPr sz="1800"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/>
              <a:t>「.dockerignore 就是減肥清單」—把不需要進 image 的東西瘦下來。</a:t>
            </a:r>
            <a:endParaRPr sz="1800"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b="1" lang="en-US" sz="1800"/>
              <a:t>範例內容</a:t>
            </a:r>
            <a:r>
              <a:rPr lang="en-US" sz="1800"/>
              <a:t>：</a:t>
            </a:r>
            <a:endParaRPr sz="1800"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/>
              <a:t>任何列出的檔案或資料夾在建構過程中都不會被包含，這樣可幫助減少最終鏡像的大小。</a:t>
            </a:r>
            <a:endParaRPr sz="1800"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/>
              <a:t>繼承上一次的Dockerfile</a:t>
            </a:r>
            <a:endParaRPr sz="1800"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 sz="1800"/>
              <a:t>例如，以下是 .dockerignore 文件的一個示範內容：</a:t>
            </a:r>
            <a:endParaRPr sz="1800"/>
          </a:p>
          <a:p>
            <a:pPr indent="-212725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r>
              <a:t/>
            </a:r>
            <a:endParaRPr sz="1600"/>
          </a:p>
          <a:p>
            <a:pPr indent="-212725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r>
              <a:t/>
            </a:r>
            <a:endParaRPr sz="1600"/>
          </a:p>
        </p:txBody>
      </p:sp>
      <p:pic>
        <p:nvPicPr>
          <p:cNvPr id="173" name="Google Shape;17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13359" y="5646869"/>
            <a:ext cx="3815337" cy="11278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3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/>
              <a:t> .dockerignore 的基本概念 </a:t>
            </a:r>
            <a:br>
              <a:rPr lang="en-US"/>
            </a:br>
            <a:r>
              <a:rPr lang="en-US"/>
              <a:t>文件格式與範例</a:t>
            </a:r>
            <a:endParaRPr/>
          </a:p>
        </p:txBody>
      </p:sp>
      <p:sp>
        <p:nvSpPr>
          <p:cNvPr id="179" name="Google Shape;179;p23"/>
          <p:cNvSpPr/>
          <p:nvPr/>
        </p:nvSpPr>
        <p:spPr>
          <a:xfrm>
            <a:off x="677545" y="2049145"/>
            <a:ext cx="10683240" cy="45688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b="0" i="0" lang="en-US" sz="24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__pycache__/</a:t>
            </a:r>
            <a:endParaRPr b="0" i="0" sz="2400" u="none" cap="none" strike="noStrike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b="0" i="0" lang="en-US" sz="24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*.pyc</a:t>
            </a:r>
            <a:endParaRPr b="0" i="0" sz="2400" u="none" cap="none" strike="noStrike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b="0" i="0" lang="en-US" sz="24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venv/</a:t>
            </a:r>
            <a:endParaRPr b="0" i="0" sz="2400" u="none" cap="none" strike="noStrike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b="0" i="0" lang="en-US" sz="24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ENV/</a:t>
            </a:r>
            <a:endParaRPr b="0" i="0" sz="2400" u="none" cap="none" strike="noStrike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b="0" i="0" lang="en-US" sz="24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.env</a:t>
            </a:r>
            <a:endParaRPr b="0" i="0" sz="2400" u="none" cap="none" strike="noStrike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b="0" i="0" lang="en-US" sz="24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.env.*</a:t>
            </a:r>
            <a:endParaRPr b="0" i="0" sz="2400" u="none" cap="none" strike="noStrike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20980" lvl="0" marL="3429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t/>
            </a:r>
            <a:endParaRPr b="0" i="0" sz="2400" u="none" cap="none" strike="noStrike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163830" lvl="1" marL="74295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t/>
            </a:r>
            <a:endParaRPr b="0" i="0" sz="2400" u="none" cap="none" strike="noStrike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80" name="Google Shape;180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04780" y="1930400"/>
            <a:ext cx="5384945" cy="3895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4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/>
              <a:t> .dockerignore 的基本概念 </a:t>
            </a:r>
            <a:br>
              <a:rPr lang="en-US"/>
            </a:br>
            <a:r>
              <a:rPr lang="en-US"/>
              <a:t>文件格式與範例(2)</a:t>
            </a:r>
            <a:endParaRPr/>
          </a:p>
        </p:txBody>
      </p:sp>
      <p:sp>
        <p:nvSpPr>
          <p:cNvPr id="186" name="Google Shape;186;p24"/>
          <p:cNvSpPr/>
          <p:nvPr/>
        </p:nvSpPr>
        <p:spPr>
          <a:xfrm>
            <a:off x="677545" y="2049145"/>
            <a:ext cx="10683240" cy="45688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None/>
            </a:pPr>
            <a:r>
              <a:rPr b="0" i="0" lang="en-US" sz="21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基礎 Python／環境與機密</a:t>
            </a:r>
            <a:endParaRPr b="0" i="0" sz="2100" u="none" cap="none" strike="noStrike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None/>
            </a:pPr>
            <a:r>
              <a:rPr b="1" i="0" lang="en-US" sz="21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rPr>
              <a:t>__pycache__/</a:t>
            </a:r>
            <a:endParaRPr b="1" i="0" sz="2100" u="none" cap="none" strike="noStrike">
              <a:solidFill>
                <a:schemeClr val="accen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None/>
            </a:pPr>
            <a:r>
              <a:rPr b="0" i="0" lang="en-US" sz="21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Python 會自動產生的編譯快取資料夾，對建置映像沒用，只會佔空間。</a:t>
            </a:r>
            <a:endParaRPr b="0" i="0" sz="2100" u="none" cap="none" strike="noStrike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None/>
            </a:pPr>
            <a:r>
              <a:rPr b="1" i="0" lang="en-US" sz="21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rPr>
              <a:t>*.pyc</a:t>
            </a:r>
            <a:endParaRPr b="1" i="0" sz="2100" u="none" cap="none" strike="noStrike">
              <a:solidFill>
                <a:schemeClr val="accen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None/>
            </a:pPr>
            <a:r>
              <a:rPr b="0" i="0" lang="en-US" sz="21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Python 編譯後的單一檔案快取（.py 的機器碼快取），同樣不需要打包進 image。</a:t>
            </a:r>
            <a:endParaRPr b="0" i="0" sz="2100" u="none" cap="none" strike="noStrike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None/>
            </a:pPr>
            <a:r>
              <a:rPr b="1" i="0" lang="en-US" sz="21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rPr>
              <a:t>venv/、ENV/</a:t>
            </a:r>
            <a:endParaRPr b="1" i="0" sz="2100" u="none" cap="none" strike="noStrike">
              <a:solidFill>
                <a:schemeClr val="accen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None/>
            </a:pPr>
            <a:r>
              <a:rPr b="0" i="0" lang="en-US" sz="21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本機虛擬環境資料夾（pip 安裝在你電腦上的那套），image 應該在 build 時由 pip install 重新安裝乾淨的一份，不要把本機的 venv 打包進去。</a:t>
            </a:r>
            <a:endParaRPr b="0" i="0" sz="2100" u="none" cap="none" strike="noStrike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None/>
            </a:pPr>
            <a:r>
              <a:rPr b="1" i="0" lang="en-US" sz="21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rPr>
              <a:t>.env、.env.*</a:t>
            </a:r>
            <a:endParaRPr b="1" i="0" sz="2100" u="none" cap="none" strike="noStrike">
              <a:solidFill>
                <a:schemeClr val="accen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None/>
            </a:pPr>
            <a:r>
              <a:rPr b="0" i="0" lang="en-US" sz="21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環境變數檔（例如 .env.development、.env.production），常含密碼／金鑰。務必忽略，避免被打包進 image。</a:t>
            </a:r>
            <a:endParaRPr b="0" i="0" sz="2100" u="none" cap="none" strike="noStrike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/>
              <a:t> .dockerignore 的基本概念 </a:t>
            </a:r>
            <a:br>
              <a:rPr lang="en-US"/>
            </a:br>
            <a:r>
              <a:rPr lang="en-US"/>
              <a:t>文件格式與範例(3)</a:t>
            </a:r>
            <a:endParaRPr/>
          </a:p>
        </p:txBody>
      </p:sp>
      <p:sp>
        <p:nvSpPr>
          <p:cNvPr id="192" name="Google Shape;192;p25"/>
          <p:cNvSpPr/>
          <p:nvPr/>
        </p:nvSpPr>
        <p:spPr>
          <a:xfrm>
            <a:off x="677545" y="2049145"/>
            <a:ext cx="10683240" cy="45688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t/>
            </a:r>
            <a:endParaRPr b="0" i="0" sz="2400" u="none" cap="none" strike="noStrike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b="0" i="0" lang="en-US" sz="24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「在 .dockerignore 裡，* 就是萬用牌，代表任何字；</a:t>
            </a:r>
            <a:endParaRPr b="0" i="0" sz="2400" u="none" cap="none" strike="noStrike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b="0" i="0" lang="en-US" sz="24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** 是加強版，代表任何層資料夾；</a:t>
            </a:r>
            <a:endParaRPr b="0" i="0" sz="2400" u="none" cap="none" strike="noStrike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b="0" i="0" lang="en-US" sz="24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/ 表示這是個資料夾；</a:t>
            </a:r>
            <a:endParaRPr b="0" i="0" sz="2400" u="none" cap="none" strike="noStrike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b="0" i="0" lang="en-US" sz="24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# 是註解；</a:t>
            </a:r>
            <a:endParaRPr b="0" i="0" sz="2400" u="none" cap="none" strike="noStrike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b="0" i="0" lang="en-US" sz="24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! 是反轉，不要忽略它；</a:t>
            </a:r>
            <a:endParaRPr b="0" i="0" sz="2400" u="none" cap="none" strike="noStrike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b="0" i="0" lang="en-US" sz="24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? 是單一字元。</a:t>
            </a:r>
            <a:endParaRPr b="0" i="0" sz="2400" u="none" cap="none" strike="noStrike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920"/>
              <a:buFont typeface="Noto Sans Symbols"/>
              <a:buNone/>
            </a:pPr>
            <a:r>
              <a:rPr b="0" i="0" lang="en-US" sz="24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所以 .env.* 就是『任何以 .env. 開頭的檔案都忽略』。」</a:t>
            </a:r>
            <a:endParaRPr b="0" i="0" sz="2400" u="none" cap="none" strike="noStrike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6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/>
              <a:t>.dockerignore 的基本概念 </a:t>
            </a:r>
            <a:br>
              <a:rPr lang="en-US"/>
            </a:br>
            <a:r>
              <a:rPr lang="en-US"/>
              <a:t>總結與反思</a:t>
            </a:r>
            <a:endParaRPr/>
          </a:p>
        </p:txBody>
      </p:sp>
      <p:sp>
        <p:nvSpPr>
          <p:cNvPr id="198" name="Google Shape;198;p26"/>
          <p:cNvSpPr txBox="1"/>
          <p:nvPr>
            <p:ph idx="1" type="body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重要性重申</a:t>
            </a:r>
            <a:r>
              <a:rPr lang="en-US"/>
              <a:t>：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dockerignore 文件在 Docker 生態系統中扮演著重要的角色，它不僅能提高建構效率，還能確保安全性。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持續學習</a:t>
            </a:r>
            <a:r>
              <a:rPr lang="en-US"/>
              <a:t>：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對於開發者而言，熟悉 .dockerignore 的使用及其最佳實踐是非常重要的，這將有助於在實際開發環境中應用 Docker 時，減少不必要的麻煩。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最佳實踐的探索</a:t>
            </a:r>
            <a:r>
              <a:rPr lang="en-US"/>
              <a:t>：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繼續探索其他與 Docker 相關的最佳實踐，並不斷優化工作流程，以便在日常開發中提高生產力和安全性。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7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/>
              <a:t>休息一下</a:t>
            </a:r>
            <a:br>
              <a:rPr lang="en-US"/>
            </a:br>
            <a:endParaRPr/>
          </a:p>
        </p:txBody>
      </p:sp>
      <p:sp>
        <p:nvSpPr>
          <p:cNvPr id="204" name="Google Shape;204;p27"/>
          <p:cNvSpPr txBox="1"/>
          <p:nvPr>
            <p:ph idx="1" type="body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學員提問</a:t>
            </a:r>
            <a:endParaRPr/>
          </a:p>
          <a:p>
            <a:pPr indent="-25146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8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/>
              <a:t> 為什麼要限制資源？</a:t>
            </a:r>
            <a:endParaRPr/>
          </a:p>
        </p:txBody>
      </p:sp>
      <p:sp>
        <p:nvSpPr>
          <p:cNvPr id="210" name="Google Shape;210;p28"/>
          <p:cNvSpPr txBox="1"/>
          <p:nvPr>
            <p:ph idx="1" type="body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避免單一容器耗盡系統資源</a:t>
            </a:r>
            <a:endParaRPr sz="1800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在多容器環境中，若有某一容器資源使用過高，可能影響整個系統的穩定性，因此限制資源是必要的防範措施。</a:t>
            </a:r>
            <a:endParaRPr sz="1600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提高多容器環境的穩定性</a:t>
            </a:r>
            <a:endParaRPr sz="1800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透過資源限制，可以確保每個容器都有充足的資源運行，避免因資源競爭導致的服務中斷。</a:t>
            </a:r>
            <a:endParaRPr sz="1600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在測試與生產環境控制效能</a:t>
            </a:r>
            <a:endParaRPr sz="1800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限制資源不僅適用於生產環境，測試環境中也需要思考資源的配置，以模擬實際運行情況，發現潛在的問題。</a:t>
            </a:r>
            <a:endParaRPr sz="1600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9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/>
              <a:t> 容器記憶體設定–-memory參數解析(1)</a:t>
            </a:r>
            <a:endParaRPr/>
          </a:p>
        </p:txBody>
      </p:sp>
      <p:sp>
        <p:nvSpPr>
          <p:cNvPr id="216" name="Google Shape;216;p29"/>
          <p:cNvSpPr txBox="1"/>
          <p:nvPr>
            <p:ph idx="1" type="body"/>
          </p:nvPr>
        </p:nvSpPr>
        <p:spPr>
          <a:xfrm>
            <a:off x="748356" y="1459254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memory是什麼？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簡單來講，--memory 參數用來限制容器使用的最大記憶體大小，確保容器不會超過這個限制。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用生活例子比喻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想像一個人在使用電腦，若設定了 256MB 的記憶體限制，超出後就會強制關閉過多的應用程式，這就是 Linux 系統中的 OOM（Out Of Memory）機制。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實際例子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執行 docker run -d --name test --memory=256m nginx，這個命令將啟動一個只能使用 256MB 記憶體的 Nginx 容器，若超過限制，容器將被系統強制停止。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0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/>
              <a:t> 容器記憶體設定–memory參數解析(2)</a:t>
            </a:r>
            <a:endParaRPr/>
          </a:p>
        </p:txBody>
      </p:sp>
      <p:sp>
        <p:nvSpPr>
          <p:cNvPr id="222" name="Google Shape;222;p30"/>
          <p:cNvSpPr txBox="1"/>
          <p:nvPr>
            <p:ph idx="1" type="body"/>
          </p:nvPr>
        </p:nvSpPr>
        <p:spPr>
          <a:xfrm>
            <a:off x="1264741" y="3811838"/>
            <a:ext cx="7214914" cy="15591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>
                <a:solidFill>
                  <a:schemeClr val="dk1"/>
                </a:solidFill>
              </a:rPr>
              <a:t>--memory </a:t>
            </a:r>
            <a:r>
              <a:rPr lang="en-US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rPr>
              <a:t>是用來保護主機的安全閥，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dk1"/>
                </a:solidFill>
              </a:rPr>
              <a:t>	</a:t>
            </a:r>
            <a:r>
              <a:rPr lang="en-US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rPr>
              <a:t>限制容器最多可以用多少記憶體，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dk1"/>
                </a:solidFill>
              </a:rPr>
              <a:t>	</a:t>
            </a:r>
            <a:r>
              <a:rPr lang="en-US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rPr>
              <a:t>超過就會被系統強制結束（</a:t>
            </a:r>
            <a:r>
              <a:rPr lang="en-US">
                <a:solidFill>
                  <a:schemeClr val="dk1"/>
                </a:solidFill>
              </a:rPr>
              <a:t>OOM</a:t>
            </a:r>
            <a:r>
              <a:rPr lang="en-US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rPr>
              <a:t>）。</a:t>
            </a:r>
            <a:endParaRPr>
              <a:solidFill>
                <a:schemeClr val="dk1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sp>
        <p:nvSpPr>
          <p:cNvPr id="223" name="Google Shape;223;p30"/>
          <p:cNvSpPr txBox="1"/>
          <p:nvPr/>
        </p:nvSpPr>
        <p:spPr>
          <a:xfrm>
            <a:off x="1264741" y="1735943"/>
            <a:ext cx="7214914" cy="15591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40"/>
              <a:buFont typeface="Noto Sans Symbols"/>
              <a:buChar char="►"/>
            </a:pPr>
            <a:r>
              <a:rPr b="0" i="0" lang="en-US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容器預設可以用主機的全部記憶體。</a:t>
            </a:r>
            <a:br>
              <a:rPr b="0" i="0" lang="en-US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</a:br>
            <a:r>
              <a:rPr b="0" i="0" lang="en-US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換句話說，</a:t>
            </a:r>
            <a:r>
              <a:rPr b="1" i="0" lang="en-US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一個容器就可能吃爆整台主機</a:t>
            </a:r>
            <a:r>
              <a:rPr b="0" i="0" lang="en-US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。</a:t>
            </a:r>
            <a:br>
              <a:rPr b="0" i="0" lang="en-US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</a:br>
            <a:r>
              <a:rPr b="0" i="0" lang="en-US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所以在實際上線環境，一定要記得加上 </a:t>
            </a:r>
            <a:r>
              <a:rPr b="0" i="0" lang="en-US" sz="2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--memory</a:t>
            </a:r>
            <a:r>
              <a:rPr b="0" i="0" lang="en-US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 來保護主機</a:t>
            </a:r>
            <a:r>
              <a:rPr b="0" i="0" lang="en-US" sz="18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用生活例子比喻 </a:t>
            </a:r>
            <a:endParaRPr b="0" i="0" sz="1800" u="none" cap="none" strike="noStrike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51460" lvl="0" marL="3429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40"/>
              <a:buFont typeface="Noto Sans Symbols"/>
              <a:buNone/>
            </a:pPr>
            <a:r>
              <a:t/>
            </a:r>
            <a:endParaRPr b="0" i="0" sz="1800" u="none" cap="none" strike="noStrike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1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/>
              <a:t> 讓容器的記憶體爆炸(1)</a:t>
            </a:r>
            <a:endParaRPr/>
          </a:p>
        </p:txBody>
      </p:sp>
      <p:sp>
        <p:nvSpPr>
          <p:cNvPr id="229" name="Google Shape;229;p31"/>
          <p:cNvSpPr txBox="1"/>
          <p:nvPr>
            <p:ph idx="1" type="body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容器內部程式強制結束</a:t>
            </a:r>
            <a:endParaRPr sz="1800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當容器記憶體使用量超過設定的上限時，Linux 的 OOM Killer 將會介入，強制終止該容器內的主要程式。</a:t>
            </a:r>
            <a:endParaRPr sz="1600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服務中斷的影響</a:t>
            </a:r>
            <a:endParaRPr sz="1800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比如，Flask 或 Nginx 等服務將無法運行，應用程式可能會突然消失，且 Docker 日誌中通常不會有明顯的錯誤訊息。</a:t>
            </a:r>
            <a:endParaRPr sz="1600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主機的安全性</a:t>
            </a:r>
            <a:endParaRPr sz="1800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雖然容器被強制終止，但這樣的設計能有效保護主機不被單一容器耗盡資源，避免整體系統崩潰。</a:t>
            </a:r>
            <a:endParaRPr sz="1600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/>
              <a:t>讓容器的記憶體爆炸(2) </a:t>
            </a:r>
            <a:br>
              <a:rPr lang="en-US"/>
            </a:br>
            <a:r>
              <a:rPr lang="en-US" sz="2800"/>
              <a:t>怎麼知道真的 OOM？</a:t>
            </a:r>
            <a:endParaRPr sz="2800"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使用 docker ps -a 檢查狀態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可以查看容器的退出代碼，如果是 137，則表示容器因 OOM 被強制終止。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生活化比喻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就好比一個人在使用筆電時開啟過多程式，結果系統選擇強制關閉最佔資源的程式，以保護整體系統不崩潰。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/>
              <a:t>讓容器的記憶體爆炸(3) </a:t>
            </a:r>
            <a:br>
              <a:rPr lang="en-US"/>
            </a:br>
            <a:r>
              <a:rPr lang="en-US" sz="2800"/>
              <a:t>開始模擬容器爆炸</a:t>
            </a:r>
            <a:endParaRPr sz="2800"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步驟1：啟動容器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下載</a:t>
            </a:r>
            <a:r>
              <a:rPr b="1" lang="en-US"/>
              <a:t>https://hub.docker.com/r/vsn80395/memoryconfig </a:t>
            </a:r>
            <a:endParaRPr b="1"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docker run -d -p 80xx:8000 --memory=200m --name yourcontainername vsn80395/memoryconfig:1.0.0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故意設定較小的記憶體限制，以模擬記憶體超載情況。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步驟2：設定網頁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學生需在啟動後的網頁中輸入記憶體使用量，進一步觀察容器行為。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使用範例</a:t>
            </a:r>
            <a:br>
              <a:rPr lang="en-US"/>
            </a:br>
            <a:r>
              <a:rPr lang="en-US"/>
              <a:t>/mem/add?mb=150 加記憶體150mb</a:t>
            </a:r>
            <a:br>
              <a:rPr lang="en-US"/>
            </a:br>
            <a:r>
              <a:rPr lang="en-US"/>
              <a:t>/mem/free?mb=200 釋放記憶體200mb</a:t>
            </a:r>
            <a:endParaRPr/>
          </a:p>
          <a:p>
            <a:pPr indent="0" lvl="1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</a:pPr>
            <a:r>
              <a:rPr lang="en-US"/>
              <a:t>     /mem/clear記憶體歸0</a:t>
            </a:r>
            <a:endParaRPr/>
          </a:p>
          <a:p>
            <a:pPr indent="-20447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4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/>
              <a:t>讓容器的記憶體爆炸(4) </a:t>
            </a:r>
            <a:br>
              <a:rPr lang="en-US"/>
            </a:br>
            <a:r>
              <a:rPr lang="en-US" sz="2800"/>
              <a:t>開始模擬容器爆炸</a:t>
            </a:r>
            <a:endParaRPr sz="2800"/>
          </a:p>
        </p:txBody>
      </p:sp>
      <p:pic>
        <p:nvPicPr>
          <p:cNvPr id="247" name="Google Shape;247;p34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8325" y="1727200"/>
            <a:ext cx="4754245" cy="2120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43905" y="1931670"/>
            <a:ext cx="5250180" cy="1280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2705" y="4511675"/>
            <a:ext cx="6256020" cy="12103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/>
              <a:t>讓容器的記憶體爆炸(5) </a:t>
            </a:r>
            <a:br>
              <a:rPr lang="en-US"/>
            </a:br>
            <a:r>
              <a:rPr lang="en-US" sz="2800"/>
              <a:t>開始模擬容器爆炸</a:t>
            </a:r>
            <a:endParaRPr sz="2800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步驟3：容器停止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隨著記憶體超過設定限制200m，容器將自動停止，學生可觀察到這一過程。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步驟4 : 輸入 docker ps –a 查詢開容器狀態 確認容器停止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步驟5: 重啟容器(可多玩幾次)</a:t>
            </a:r>
            <a:endParaRPr/>
          </a:p>
          <a:p>
            <a:pPr indent="-20447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/>
              <a:t> docker stats</a:t>
            </a:r>
            <a:endParaRPr/>
          </a:p>
        </p:txBody>
      </p:sp>
      <p:sp>
        <p:nvSpPr>
          <p:cNvPr id="261" name="Google Shape;261;p36"/>
          <p:cNvSpPr txBox="1"/>
          <p:nvPr>
            <p:ph idx="1" type="body"/>
          </p:nvPr>
        </p:nvSpPr>
        <p:spPr>
          <a:xfrm>
            <a:off x="677334" y="1766656"/>
            <a:ext cx="8596668" cy="45364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使用 docker stats 命令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此命令可即時查看所有容器的資源使用情況，包括 CPU、記憶體、I/O 使用狀況，對於管理容器非常有幫助。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實時監控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學員可以看到每個容器的資源使用百分比，這有助於及時發現性能瓶頸或資源浪費的問題。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分析與調整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透過這些數據，學員可進行必要的調整，以優化容器的資源配置，提升整體系統效能。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監控輸出示範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當執行該命令後，會顯示容器名稱及其記憶體用量，如 NAME MEM USAGE / LIMIT test 130MiB / 256MiB，這樣能清楚看到容器的記憶體使用狀況。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設定的重要性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若沒有設置 --memory，容器會預設使用主機的全部記憶體，這樣可能造成主機資源耗盡，影響整體系統運行。</a:t>
            </a:r>
            <a:endParaRPr/>
          </a:p>
          <a:p>
            <a:pPr indent="-21082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7"/>
          <p:cNvSpPr txBox="1"/>
          <p:nvPr>
            <p:ph type="title"/>
          </p:nvPr>
        </p:nvSpPr>
        <p:spPr>
          <a:xfrm>
            <a:off x="677334" y="306705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/>
              <a:t> docker stats</a:t>
            </a:r>
            <a:endParaRPr/>
          </a:p>
        </p:txBody>
      </p:sp>
      <p:pic>
        <p:nvPicPr>
          <p:cNvPr id="267" name="Google Shape;267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6300" y="1057275"/>
            <a:ext cx="8596630" cy="570230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37"/>
          <p:cNvSpPr txBox="1"/>
          <p:nvPr/>
        </p:nvSpPr>
        <p:spPr>
          <a:xfrm>
            <a:off x="677545" y="1786255"/>
            <a:ext cx="9594215" cy="43999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CONTAINER ID            容器的唯一識別碼</a:t>
            </a:r>
            <a:endParaRPr b="0" i="0" sz="1400" u="none" cap="none" strike="noStrik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NAME                        容器名稱</a:t>
            </a:r>
            <a:endParaRPr b="0" i="0" sz="1400" u="none" cap="none" strike="noStrik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CPU %                       CPU 使用率比例。例：`0.15%` </a:t>
            </a:r>
            <a:endParaRPr b="0" i="0" sz="1400" u="none" cap="none" strike="noStrik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                                表示這個容器目前用到整體 CPU 的 0.15%</a:t>
            </a:r>
            <a:endParaRPr b="0" i="0" sz="1400" u="none" cap="none" strike="noStrik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MEM USAGE / LIMIT   顯示「目前記憶體使用量」與「容器限制值」。</a:t>
            </a:r>
            <a:endParaRPr b="0" i="0" sz="1400" u="none" cap="none" strike="noStrik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                                例：`141.3MiB /   200MiB` → </a:t>
            </a:r>
            <a:endParaRPr b="0" i="0" sz="1400" u="none" cap="none" strike="noStrik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                                使用 141.3 MiB，最大可用 200 MiB</a:t>
            </a:r>
            <a:endParaRPr b="0" i="0" sz="1400" u="none" cap="none" strike="noStrik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MEM %		      目前記憶體使用量相對於限制值的百分比。	</a:t>
            </a:r>
            <a:endParaRPr b="0" i="0" sz="1400" u="none" cap="none" strike="noStrik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NET I/O                    容器的網路收發資料量：`接收 / 傳送`。</a:t>
            </a:r>
            <a:endParaRPr b="0" i="0" sz="1400" u="none" cap="none" strike="noStrik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                               例：`4.34kB / 1.98kB` 代表收了 4.34 kB、送出 1.98 kB</a:t>
            </a:r>
            <a:endParaRPr b="0" i="0" sz="1400" u="none" cap="none" strike="noStrik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BLOCK I/O               容器對儲存裝置的「區塊層 I/O」存取量：</a:t>
            </a:r>
            <a:endParaRPr b="0" i="0" sz="1400" u="none" cap="none" strike="noStrik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                              `讀取 / 寫入`。&lt;br&gt;例：`0B / 0B` 表示目前幾乎沒有磁碟讀寫</a:t>
            </a:r>
            <a:endParaRPr b="0" i="0" sz="1400" u="none" cap="none" strike="noStrik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PIDS			     容器內目前的程序（process）數量。例：`6` 表示這個容器裡有 6 個進程</a:t>
            </a:r>
            <a:endParaRPr b="0" i="0" sz="1400" u="none" cap="none" strike="noStrik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8"/>
          <p:cNvSpPr txBox="1"/>
          <p:nvPr>
            <p:ph type="title"/>
          </p:nvPr>
        </p:nvSpPr>
        <p:spPr>
          <a:xfrm>
            <a:off x="677334" y="306705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/>
              <a:t> docker stats</a:t>
            </a:r>
            <a:endParaRPr/>
          </a:p>
        </p:txBody>
      </p:sp>
      <p:sp>
        <p:nvSpPr>
          <p:cNvPr id="274" name="Google Shape;274;p38"/>
          <p:cNvSpPr txBox="1"/>
          <p:nvPr/>
        </p:nvSpPr>
        <p:spPr>
          <a:xfrm>
            <a:off x="677545" y="1786255"/>
            <a:ext cx="10220960" cy="16433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再執行一次記憶體容器，並且另外開一個cmd輸入docker stats觀察容器狀態</a:t>
            </a:r>
            <a:endParaRPr b="0" i="0" sz="2000" u="none" cap="none" strike="noStrik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/>
              <a:t> docker update</a:t>
            </a:r>
            <a:endParaRPr/>
          </a:p>
        </p:txBody>
      </p:sp>
      <p:sp>
        <p:nvSpPr>
          <p:cNvPr id="280" name="Google Shape;280;p39"/>
          <p:cNvSpPr txBox="1"/>
          <p:nvPr>
            <p:ph idx="1" type="body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容器運行時可即時修改資源設定</a:t>
            </a:r>
            <a:endParaRPr sz="1800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使用 docker update 命令，學員能夠在容器運行時動態調整 CPU 和記憶體的配置，這對於處理突發流量或資源需求非常有用。</a:t>
            </a:r>
            <a:endParaRPr sz="1800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指令示範</a:t>
            </a:r>
            <a:endParaRPr sz="1800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例如，執行 docker update 《容器名稱》 --memory=500m，直接修改容器的記憶體上限，以適應新的需求。</a:t>
            </a:r>
            <a:endParaRPr sz="1600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docker update 706c6437582a --memory=500m --memory-swap=500m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解釋一下需要加上--memory-swap</a:t>
            </a:r>
            <a:endParaRPr/>
          </a:p>
          <a:p>
            <a:pPr indent="-26162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/>
              <a:t> docker update</a:t>
            </a:r>
            <a:endParaRPr/>
          </a:p>
        </p:txBody>
      </p:sp>
      <p:sp>
        <p:nvSpPr>
          <p:cNvPr id="286" name="Google Shape;286;p40"/>
          <p:cNvSpPr txBox="1"/>
          <p:nvPr>
            <p:ph idx="1" type="body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docker update 把 --memory 往上調，一旦新值 大於目前的 memory-swap，就會被擋下——這時必須同時帶上 --memory-swap，讓「memory ≤ memory-swap」成立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調高 memory → 請同時帶 --memory-swap。</a:t>
            </a:r>
            <a:endParaRPr/>
          </a:p>
          <a:p>
            <a:pPr indent="-25146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調低 memory → 通常不用帶（因為還是 ≤ 既有的 memory-swap）。</a:t>
            </a:r>
            <a:endParaRPr/>
          </a:p>
          <a:p>
            <a:pPr indent="-25146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不想用 swap（教學最乾淨）：把兩個設成一樣。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/>
              <a:t> docker update</a:t>
            </a:r>
            <a:endParaRPr/>
          </a:p>
        </p:txBody>
      </p:sp>
      <p:sp>
        <p:nvSpPr>
          <p:cNvPr id="292" name="Google Shape;292;p41"/>
          <p:cNvSpPr txBox="1"/>
          <p:nvPr>
            <p:ph idx="1" type="body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1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80"/>
              <a:buNone/>
            </a:pPr>
            <a:r>
              <a:t/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使用 docker inspect</a:t>
            </a:r>
            <a:endParaRPr sz="1800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透過 docker inspect 《容器名稱》 --format '｛｛.HostConfig.MemorySwap｝｝' 來檢查容器的記憶體與交換空間設定，以便進一步調整。</a:t>
            </a:r>
            <a:endParaRPr sz="1600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 sz="3600"/>
              <a:t> --memory-swap 是什麼？</a:t>
            </a:r>
            <a:endParaRPr sz="3600"/>
          </a:p>
        </p:txBody>
      </p:sp>
      <p:sp>
        <p:nvSpPr>
          <p:cNvPr id="298" name="Google Shape;298;p42"/>
          <p:cNvSpPr txBox="1"/>
          <p:nvPr>
            <p:ph idx="1" type="body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理解 Swap Space（交換空間）</a:t>
            </a:r>
            <a:endParaRPr sz="1800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Swap 是操作系統在硬碟上劃出的一段空間，當 RAM 不夠時，系統會將不常用的資料移到此區域，這樣可以釋放實體記憶體來供需要的程序使用。</a:t>
            </a:r>
            <a:endParaRPr sz="1600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Swap 的限制</a:t>
            </a:r>
            <a:endParaRPr sz="1800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在 Docker 中，--memory-swap 定義了記憶體和 Swap 空間的總上限，若設定相同則禁用 swap。</a:t>
            </a:r>
            <a:endParaRPr sz="1600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 sz="1800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效能影響</a:t>
            </a:r>
            <a:endParaRPr sz="1800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 sz="1600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rPr>
              <a:t>雖然 swap 能增加可用記憶體，但由於其速度較慢，使用 swap 會影響容器的性能，因此應謹慎使用。</a:t>
            </a:r>
            <a:endParaRPr sz="1600">
              <a:solidFill>
                <a:srgbClr val="3F3F3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 sz="3600"/>
              <a:t> --memory-swap 是什麼？</a:t>
            </a:r>
            <a:endParaRPr sz="3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你可以想成「RAM 是主記憶體」，「Swap 是暫時借硬碟空間來當記憶體」。</a:t>
            </a:r>
            <a:endParaRPr/>
          </a:p>
          <a:p>
            <a:pPr indent="-25146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類比	                                    意思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--memory	                              給容器的「實體 RAM 上限」。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--memory-swap	               「RAM + Swap」的總上限。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--memory-swap - --memory	   就是容器能「借用硬碟空間」的量。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44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/>
              <a:t>docker run --restart=always</a:t>
            </a:r>
            <a:endParaRPr/>
          </a:p>
        </p:txBody>
      </p:sp>
      <p:sp>
        <p:nvSpPr>
          <p:cNvPr id="310" name="Google Shape;310;p44"/>
          <p:cNvSpPr txBox="1"/>
          <p:nvPr>
            <p:ph idx="1" type="body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只要容器停止後，如果再一開始docker run有預先加上這個參數</a:t>
            </a:r>
            <a:br>
              <a:rPr lang="en-US"/>
            </a:br>
            <a:r>
              <a:rPr lang="en-US"/>
              <a:t>就會每次自動啟動</a:t>
            </a:r>
            <a:endParaRPr/>
          </a:p>
          <a:p>
            <a:pPr indent="-25146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請學生實際演練，將容器加上這個參數，接著測試記憶體爆炸的步驟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/>
              <a:t>休息一下</a:t>
            </a:r>
            <a:br>
              <a:rPr lang="en-US"/>
            </a:br>
            <a:endParaRPr/>
          </a:p>
        </p:txBody>
      </p:sp>
      <p:sp>
        <p:nvSpPr>
          <p:cNvPr id="316" name="Google Shape;316;p45"/>
          <p:cNvSpPr txBox="1"/>
          <p:nvPr>
            <p:ph idx="1" type="body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學員提問</a:t>
            </a:r>
            <a:endParaRPr/>
          </a:p>
          <a:p>
            <a:pPr indent="-25146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46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/>
              <a:t>docker logs</a:t>
            </a:r>
            <a:endParaRPr/>
          </a:p>
        </p:txBody>
      </p:sp>
      <p:sp>
        <p:nvSpPr>
          <p:cNvPr id="322" name="Google Shape;322;p46"/>
          <p:cNvSpPr txBox="1"/>
          <p:nvPr>
            <p:ph idx="1" type="body"/>
          </p:nvPr>
        </p:nvSpPr>
        <p:spPr>
          <a:xfrm>
            <a:off x="677334" y="1530037"/>
            <a:ext cx="9453494" cy="451132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想像你有一個日記本,記錄著你每天做了什麼事。Docker logs 就像是容器的日記本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為什麼需要它?</a:t>
            </a:r>
            <a:r>
              <a:rPr lang="en-US"/>
              <a:t> 當你的程式出問題時,你可以看看「日記」裡寫了什麼,找出哪裡出錯了。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下載log產生器的image </a:t>
            </a:r>
            <a:endParaRPr b="1"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https://hub.docker.com/r/vsn80395/logtest </a:t>
            </a:r>
            <a:endParaRPr b="1"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基本用法:</a:t>
            </a:r>
            <a:endParaRPr b="1"/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rPr lang="en-US"/>
              <a:t>     docker logs 容器名稱</a:t>
            </a:r>
            <a:endParaRPr/>
          </a:p>
          <a:p>
            <a:pPr indent="-25146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/>
          </a:p>
          <a:p>
            <a:pPr indent="-25146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/>
          </a:p>
          <a:p>
            <a:pPr indent="-25146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47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/>
              <a:t>docker logs(2)</a:t>
            </a:r>
            <a:endParaRPr/>
          </a:p>
        </p:txBody>
      </p:sp>
      <p:sp>
        <p:nvSpPr>
          <p:cNvPr id="328" name="Google Shape;328;p47"/>
          <p:cNvSpPr txBox="1"/>
          <p:nvPr>
            <p:ph idx="1" type="body"/>
          </p:nvPr>
        </p:nvSpPr>
        <p:spPr>
          <a:xfrm>
            <a:off x="677333" y="1530036"/>
            <a:ext cx="9771683" cy="50305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10000"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80000"/>
              <a:buChar char="►"/>
            </a:pPr>
            <a:r>
              <a:rPr b="1" lang="en-US"/>
              <a:t>進階用法:</a:t>
            </a:r>
            <a:endParaRPr b="1"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 即時監看最新 100 行，之後持續跟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r>
              <a:rPr lang="en-US"/>
              <a:t>       docker logs -f --tail 100 myapp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看最近 10 分鐘內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r>
              <a:rPr lang="en-US"/>
              <a:t>	docker logs --since 10m myapp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指定時間區間（10:00 ~ 11:00）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r>
              <a:rPr lang="en-US"/>
              <a:t>	docker logs --since "2025-10-30T10:00:00+08:00" \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r>
              <a:rPr lang="en-US"/>
              <a:t>                         --until "2025-10-30T11:00:00+08:00" myapp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帶時間戳記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r>
              <a:rPr lang="en-US"/>
              <a:t>	docker logs -t myapp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只看最後 50 行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r>
              <a:rPr lang="en-US"/>
              <a:t>	docker logs --tail 50 myapp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請學生實際演練，各個參數差別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Char char="►"/>
            </a:pPr>
            <a:r>
              <a:rPr lang="en-US"/>
              <a:t>請學生操作memoryconfig 操作記憶體量 並且另外開一個cmd輸入docker logs來觀察</a:t>
            </a:r>
            <a:endParaRPr/>
          </a:p>
          <a:p>
            <a:pPr indent="-258445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48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en-US"/>
              <a:t>下載位置</a:t>
            </a:r>
            <a:endParaRPr/>
          </a:p>
        </p:txBody>
      </p:sp>
      <p:sp>
        <p:nvSpPr>
          <p:cNvPr id="334" name="Google Shape;334;p48"/>
          <p:cNvSpPr txBox="1"/>
          <p:nvPr>
            <p:ph idx="1" type="body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https://github.com/coolyuoo/CpuConfig 容器CPU控制原始檔</a:t>
            </a:r>
            <a:endParaRPr b="1"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https://hub.docker.com/r/vsn80395/cpuconfig 容器CPU控制IMAGE</a:t>
            </a:r>
            <a:endParaRPr b="1"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https://github.com/coolyuoo/MemoryConfig 容器記憶體控制原始檔</a:t>
            </a:r>
            <a:endParaRPr b="1"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https://hub.docker.com/r/vsn80395/memoryconfig 容器記憶體控制IMAGE</a:t>
            </a:r>
            <a:endParaRPr b="1"/>
          </a:p>
          <a:p>
            <a:pPr indent="-34290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https://hub.docker.com/r/vsn80395/logtest LOG產生器IMAGE</a:t>
            </a:r>
            <a:endParaRPr b="1"/>
          </a:p>
          <a:p>
            <a:pPr indent="-25146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 b="1"/>
          </a:p>
          <a:p>
            <a:pPr indent="-251460" lvl="0" marL="3429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 b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多面向">
  <a:themeElements>
    <a:clrScheme name="多面向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